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e494620cb742ff" /><Relationship Type="http://schemas.openxmlformats.org/officeDocument/2006/relationships/extended-properties" Target="/docProps/app.xml" Id="R5770b0cacacd4fd2" /><Relationship Type="http://schemas.openxmlformats.org/officeDocument/2006/relationships/officeDocument" Target="/ppt/presentation.xml" Id="Rb9f54ddfd5a84a7c" /></Relationships>
</file>

<file path=ppt/presentation.xml><?xml version="1.0" encoding="utf-8"?>
<p:presentation xmlns:p="http://schemas.openxmlformats.org/presentationml/2006/main">
  <p:sldMasterIdLst>
    <p:sldMasterId xmlns:r="http://schemas.openxmlformats.org/officeDocument/2006/relationships" id="2147483648" r:id="R96af320420b8472f"/>
  </p:sldMasterIdLst>
  <p:notesMasterIdLst>
    <p:notesMasterId xmlns:r="http://schemas.openxmlformats.org/officeDocument/2006/relationships" r:id="R99c541584c4b4abb"/>
  </p:notesMasterIdLst>
  <p:sldIdLst>
    <p:sldId xmlns:r="http://schemas.openxmlformats.org/officeDocument/2006/relationships" id="256" r:id="R02ac0137243944b7"/>
    <p:sldId xmlns:r="http://schemas.openxmlformats.org/officeDocument/2006/relationships" id="257" r:id="R29abebce6a68442d"/>
    <p:sldId xmlns:r="http://schemas.openxmlformats.org/officeDocument/2006/relationships" id="258" r:id="R1da903729f504323"/>
    <p:sldId xmlns:r="http://schemas.openxmlformats.org/officeDocument/2006/relationships" id="259" r:id="R50e1b045e23c49be"/>
    <p:sldId xmlns:r="http://schemas.openxmlformats.org/officeDocument/2006/relationships" id="260" r:id="R814fa1ad55094e82"/>
    <p:sldId xmlns:r="http://schemas.openxmlformats.org/officeDocument/2006/relationships" id="261" r:id="Ra167858f10204c08"/>
    <p:sldId xmlns:r="http://schemas.openxmlformats.org/officeDocument/2006/relationships" id="262" r:id="Rd9e44c9d1c994761"/>
    <p:sldId xmlns:r="http://schemas.openxmlformats.org/officeDocument/2006/relationships" id="263" r:id="Rc1644820307343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6d8d0d640d4ff4" /><Relationship Type="http://schemas.openxmlformats.org/officeDocument/2006/relationships/slideMaster" Target="/ppt/slideMasters/slideMaster1.xml" Id="R96af320420b8472f" /><Relationship Type="http://schemas.openxmlformats.org/officeDocument/2006/relationships/notesMaster" Target="/ppt/notesMasters/notesMaster1.xml" Id="R99c541584c4b4abb" /><Relationship Type="http://schemas.openxmlformats.org/officeDocument/2006/relationships/presProps" Target="/ppt/presProps.xml" Id="R94e9125c5ca947bb" /><Relationship Type="http://schemas.openxmlformats.org/officeDocument/2006/relationships/tableStyles" Target="/ppt/tableStyles.xml" Id="R2352ad3302f54671" /><Relationship Type="http://schemas.openxmlformats.org/officeDocument/2006/relationships/slide" Target="/ppt/slides/slide1.xml" Id="R02ac0137243944b7" /><Relationship Type="http://schemas.openxmlformats.org/officeDocument/2006/relationships/slide" Target="/ppt/slides/slide2.xml" Id="R29abebce6a68442d" /><Relationship Type="http://schemas.openxmlformats.org/officeDocument/2006/relationships/slide" Target="/ppt/slides/slide3.xml" Id="R1da903729f504323" /><Relationship Type="http://schemas.openxmlformats.org/officeDocument/2006/relationships/slide" Target="/ppt/slides/slide4.xml" Id="R50e1b045e23c49be" /><Relationship Type="http://schemas.openxmlformats.org/officeDocument/2006/relationships/slide" Target="/ppt/slides/slide5.xml" Id="R814fa1ad55094e82" /><Relationship Type="http://schemas.openxmlformats.org/officeDocument/2006/relationships/slide" Target="/ppt/slides/slide6.xml" Id="Ra167858f10204c08" /><Relationship Type="http://schemas.openxmlformats.org/officeDocument/2006/relationships/slide" Target="/ppt/slides/slide7.xml" Id="Rd9e44c9d1c994761" /><Relationship Type="http://schemas.openxmlformats.org/officeDocument/2006/relationships/slide" Target="/ppt/slides/slide8.xml" Id="Rc1644820307343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a812ce8e5c4a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9fd40c11e44ce2" /><Relationship Type="http://schemas.openxmlformats.org/officeDocument/2006/relationships/notesMaster" Target="/ppt/notesMasters/notesMaster1.xml" Id="R9b107a7d4ed245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184f50eeb5460b" /><Relationship Type="http://schemas.openxmlformats.org/officeDocument/2006/relationships/notesMaster" Target="/ppt/notesMasters/notesMaster1.xml" Id="Rd8046828f27640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414f96320b4a07" /><Relationship Type="http://schemas.openxmlformats.org/officeDocument/2006/relationships/notesMaster" Target="/ppt/notesMasters/notesMaster1.xml" Id="R34ad50bb92774d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fc2573e1814ff4" /><Relationship Type="http://schemas.openxmlformats.org/officeDocument/2006/relationships/notesMaster" Target="/ppt/notesMasters/notesMaster1.xml" Id="R79792d67c15e4e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f2f6682afd4fb5" /><Relationship Type="http://schemas.openxmlformats.org/officeDocument/2006/relationships/notesMaster" Target="/ppt/notesMasters/notesMaster1.xml" Id="R950bd92665664e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46f12ef4f8454f" /><Relationship Type="http://schemas.openxmlformats.org/officeDocument/2006/relationships/notesMaster" Target="/ppt/notesMasters/notesMaster1.xml" Id="Reaecd3197f8c47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393fb413fc4638" /><Relationship Type="http://schemas.openxmlformats.org/officeDocument/2006/relationships/notesMaster" Target="/ppt/notesMasters/notesMaster1.xml" Id="R4a919995bba345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e851e3a80c4957" /><Relationship Type="http://schemas.openxmlformats.org/officeDocument/2006/relationships/notesMaster" Target="/ppt/notesMasters/notesMaster1.xml" Id="R654fca903ee541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Shivam Gupta. This is a new hackathon project. Original produce artwork comes from src/client/Produce.tsx. All Northstar Produce demo data is synthetic. Deployable architecture; cloud validation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scenario. Northstar Produce is fictional. 40 crates x 5 kg = 200 kg. Dispatch cutoff is operational, not a food-safety judgement. Prices: £24 original, £18 recovery offer, £16 floor, £12 book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workflow, not a screenshot. Example request: 12 crates at £17 before 14:00. Deterministic checks enforce the £16 floor, buyer capacity and delivery limits. AWS channels remain simulated until configured and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concurrent-claim scenario, reproduced by the project concurrency test before release. A conditional workspace update protects the remaining stock. Event IDs prevent repeated inbound events creating another order. The model proposes an intent; deterministic application code enforces all transactional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validation pending. Read infra/stack.ts and src/server/lambda.ts for the complete implementation. CloudFront serves private S3 web assets and routes /api/* to API Gateway and Lambda. Lambda calls Bedrock, DynamoDB and CDS SDKs. SES/Social/SMS events use an SNS topic, SQS queue and dead-letter queue. SES can store inbound MIME in private S3. Secrets Manager supplies the CloudFront origin verification secret. CloudWatch alarms publish to an operational SNS topic. DynamoDB uses snapshot chunks and a conditional transactional head, bounded to 2 MB. EventBridge periodically retries queued outbox work only, never unknown provider outcomes. Provider inbound routing currently binds to one configured live workspace; this is a stated scaling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example: 12 crates x £17 = £204; 20 x £18 = £360; 8 x £18 = £144. Total 40 crates, £708 booked sales, £480 book cost and £228 spread before handling, transport and software. 200 kg is allocated, not verified waste prevented. Proposed subscription £299/depot/month includes 25 workflows within stated messaging limits. With £5 contribution per additional crate, 60 additional crates cover £299. Hypotheses in docs/BUSINESS_CASE.md, not customer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22 September 2026. WRAP: https://www.wrap.ngo/taking-action/food-drink/actions/surplus-food-waste-redistribution . Reports approximately 191,000 tonnes received by UK redistribution organisations in 2023. Historical sector context, not SecondCrate TAM or impact. Choco https://help.choco.com/en/articles/15821057-order-agent-whatsapp-and-email-forwarding already offers AI wholesale order capture. Too Good To Go https://www.toogoodtogo.com/en-gb/surplus-food-parcels already sells manufacturer/wholesaler surplus to consumers. SecondCrate proposes a focused cancelled-order recovery workflow through existing B2B 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pilot only. No customer interviews, pilots, revenue or customer outcomes claimed. Plan: ten distributor interviews, two-week baseline and four-week paid pilot with three depots. Continue if at least two renew at £299, median incremental benefit exceeds £598/month, coordinator effort falls at least 30%, no oversells/below-floor/unwanted sends occur, and support approaches one hour per depot per month. All thresholds are internal hypotheses in docs/BUSINESS_CASE.md. Deployment and live AWS validation remain pending. Creator Shivam Gupta.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0fc9e971f642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29e0655f6c41c0" /><Relationship Type="http://schemas.openxmlformats.org/officeDocument/2006/relationships/slideLayout" Target="/ppt/slideLayouts/slideLayout1.xml" Id="R0a5f2d97028042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5f2d97028042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671e6a14a449cc" /><Relationship Type="http://schemas.openxmlformats.org/officeDocument/2006/relationships/image" Target="/ppt/media/image.png" Id="R133047df473e4e09" /><Relationship Type="http://schemas.openxmlformats.org/officeDocument/2006/relationships/notesSlide" Target="/ppt/notesSlides/notesSlide1.xml" Id="Rf751b54a1fff43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bc989535694173" /><Relationship Type="http://schemas.openxmlformats.org/officeDocument/2006/relationships/notesSlide" Target="/ppt/notesSlides/notesSlide2.xml" Id="R43fa6a6cb3f642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c0c63138874cce" /><Relationship Type="http://schemas.openxmlformats.org/officeDocument/2006/relationships/notesSlide" Target="/ppt/notesSlides/notesSlide3.xml" Id="R675b81ddc5994b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b9adf942de4773" /><Relationship Type="http://schemas.openxmlformats.org/officeDocument/2006/relationships/notesSlide" Target="/ppt/notesSlides/notesSlide4.xml" Id="R5cb7a1b4d89340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96493e6fa64238" /><Relationship Type="http://schemas.openxmlformats.org/officeDocument/2006/relationships/notesSlide" Target="/ppt/notesSlides/notesSlide5.xml" Id="Rceb1df887bac49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e33a38051e4a68" /><Relationship Type="http://schemas.openxmlformats.org/officeDocument/2006/relationships/notesSlide" Target="/ppt/notesSlides/notesSlide6.xml" Id="R361c591da1a246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d61a24a3584474" /><Relationship Type="http://schemas.openxmlformats.org/officeDocument/2006/relationships/notesSlide" Target="/ppt/notesSlides/notesSlide7.xml" Id="Rcac7d4628b9d49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53da15756a495f" /><Relationship Type="http://schemas.openxmlformats.org/officeDocument/2006/relationships/notesSlide" Target="/ppt/notesSlides/notesSlide8.xml" Id="Rd4f34b90f1d74294" /></Relationships>
</file>

<file path=ppt/slides/slide1.xml><?xml version="1.0" encoding="utf-8"?>
<p:sld xmlns:p="http://schemas.openxmlformats.org/presentationml/2006/main">
  <p:cSld>
    <p:bg>
      <p:bgPr>
        <a:solidFill xmlns:a="http://schemas.openxmlformats.org/drawingml/2006/main">
          <a:srgbClr val="244C3A"/>
        </a:solidFill>
      </p:bgPr>
    </p:bg>
    <p:spTree>
      <p:nvGrpSpPr>
        <p:cNvPr id="1" name=""/>
        <p:cNvGrpSpPr/>
        <p:nvPr/>
      </p:nvGrpSpPr>
      <p:grpSpPr>
        <a:xfrm xmlns:a="http://schemas.openxmlformats.org/drawingml/2006/main"/>
      </p:grpSpPr>
      <p:sp>
        <p:nvSpPr>
          <p:cNvPr id="9" name="SECONDCRATE">
            <a:extLst xmlns:a="http://schemas.openxmlformats.org/drawingml/2006/main">
              <a:ext uri="{FF2B5EF4-FFF2-40B4-BE49-F238E27FC236}">
                <a16:creationId xmlns:a16="http://schemas.microsoft.com/office/drawing/2014/main" id="{4DDE4878-B7F9-4F2F-9E67-DCE32B8E7B0C}"/>
              </a:ext>
            </a:extLst>
          </p:cNvPr>
          <p:cNvSpPr>
            <a:spLocks xmlns:a="http://schemas.openxmlformats.org/drawingml/2006/main" noGrp="1"/>
          </p:cNvSpPr>
          <p:nvPr/>
        </p:nvSpPr>
        <p:spPr>
          <a:xfrm xmlns:a="http://schemas.openxmlformats.org/drawingml/2006/main">
            <a:off x="609600" y="64198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4E9A8"/>
                </a:solidFill>
                <a:latin typeface="Liberation Sans"/>
                <a:ea typeface="Liberation Sans"/>
                <a:cs typeface="Liberation Sans"/>
              </a:defRPr>
            </a:pPr>
            <a:r>
              <a:rPr sz="1125" b="1">
                <a:solidFill>
                  <a:srgbClr val="D4E9A8"/>
                </a:solidFill>
                <a:latin typeface="Liberation Sans"/>
                <a:ea typeface="Liberation Sans"/>
                <a:cs typeface="Liberation Sans"/>
              </a:rPr>
              <a:t>SECONDCRATE</a:t>
            </a:r>
          </a:p>
        </p:txBody>
      </p:sp>
      <p:sp>
        <p:nvSpPr>
          <p:cNvPr id="2" name="01">
            <a:extLst xmlns:a="http://schemas.openxmlformats.org/drawingml/2006/main">
              <a:ext uri="{FF2B5EF4-FFF2-40B4-BE49-F238E27FC236}">
                <a16:creationId xmlns:a16="http://schemas.microsoft.com/office/drawing/2014/main" id="{BDD43930-1BF7-4F28-AE27-17F2569A530E}"/>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E9A8"/>
                </a:solidFill>
                <a:latin typeface="Liberation Sans"/>
                <a:ea typeface="Liberation Sans"/>
                <a:cs typeface="Liberation Sans"/>
              </a:defRPr>
            </a:pPr>
            <a:r>
              <a:rPr sz="1125" b="0">
                <a:solidFill>
                  <a:srgbClr val="D4E9A8"/>
                </a:solidFill>
                <a:latin typeface="Liberation Sans"/>
                <a:ea typeface="Liberation Sans"/>
                <a:cs typeface="Liberation Sans"/>
              </a:rPr>
              <a:t>01</a:t>
            </a:r>
          </a:p>
        </p:txBody>
      </p:sp>
      <p:sp>
        <p:nvSpPr>
          <p:cNvPr id="3" name="SecondCrate">
            <a:extLst xmlns:a="http://schemas.openxmlformats.org/drawingml/2006/main">
              <a:ext uri="{FF2B5EF4-FFF2-40B4-BE49-F238E27FC236}">
                <a16:creationId xmlns:a16="http://schemas.microsoft.com/office/drawing/2014/main" id="{0083B796-65DC-4666-86E3-ED42DEE6F2B0}"/>
              </a:ext>
            </a:extLst>
          </p:cNvPr>
          <p:cNvSpPr>
            <a:spLocks xmlns:a="http://schemas.openxmlformats.org/drawingml/2006/main" noGrp="1"/>
          </p:cNvSpPr>
          <p:nvPr/>
        </p:nvSpPr>
        <p:spPr>
          <a:xfrm xmlns:a="http://schemas.openxmlformats.org/drawingml/2006/main">
            <a:off x="609600" y="952500"/>
            <a:ext cx="107442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7F8F5"/>
                </a:solidFill>
                <a:latin typeface="Liberation Sans"/>
                <a:ea typeface="Liberation Sans"/>
                <a:cs typeface="Liberation Sans"/>
              </a:defRPr>
            </a:pPr>
            <a:r>
              <a:rPr sz="7200" b="1">
                <a:solidFill>
                  <a:srgbClr val="F7F8F5"/>
                </a:solidFill>
                <a:latin typeface="Liberation Sans"/>
                <a:ea typeface="Liberation Sans"/>
                <a:cs typeface="Liberation Sans"/>
              </a:rPr>
              <a:t>SecondCrate</a:t>
            </a:r>
          </a:p>
        </p:txBody>
      </p:sp>
      <p:sp>
        <p:nvSpPr>
          <p:cNvPr id="4" name="Every good lot&#10;deserves a buyer">
            <a:extLst xmlns:a="http://schemas.openxmlformats.org/drawingml/2006/main">
              <a:ext uri="{FF2B5EF4-FFF2-40B4-BE49-F238E27FC236}">
                <a16:creationId xmlns:a16="http://schemas.microsoft.com/office/drawing/2014/main" id="{B870F70A-3212-4D32-BB0A-2CE862D1B4F1}"/>
              </a:ext>
            </a:extLst>
          </p:cNvPr>
          <p:cNvSpPr>
            <a:spLocks xmlns:a="http://schemas.openxmlformats.org/drawingml/2006/main" noGrp="1"/>
          </p:cNvSpPr>
          <p:nvPr/>
        </p:nvSpPr>
        <p:spPr>
          <a:xfrm xmlns:a="http://schemas.openxmlformats.org/drawingml/2006/main">
            <a:off x="647700" y="2466975"/>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D4E9A8"/>
                </a:solidFill>
                <a:latin typeface="Liberation Sans"/>
                <a:ea typeface="Liberation Sans"/>
                <a:cs typeface="Liberation Sans"/>
              </a:defRPr>
            </a:pPr>
            <a:r>
              <a:rPr sz="4275" b="1">
                <a:solidFill>
                  <a:srgbClr val="D4E9A8"/>
                </a:solidFill>
                <a:latin typeface="Liberation Sans"/>
                <a:ea typeface="Liberation Sans"/>
                <a:cs typeface="Liberation Sans"/>
              </a:rPr>
              <a:t>Every good lot</a:t>
            </a:r>
          </a:p>
          <a:p xmlns:a="http://schemas.openxmlformats.org/drawingml/2006/main">
            <a:pPr>
              <a:defRPr sz="4275" b="1">
                <a:solidFill>
                  <a:srgbClr val="D4E9A8"/>
                </a:solidFill>
                <a:latin typeface="Liberation Sans"/>
                <a:ea typeface="Liberation Sans"/>
                <a:cs typeface="Liberation Sans"/>
              </a:defRPr>
            </a:pPr>
            <a:r>
              <a:rPr sz="4275" b="1">
                <a:solidFill>
                  <a:srgbClr val="D4E9A8"/>
                </a:solidFill>
                <a:latin typeface="Liberation Sans"/>
                <a:ea typeface="Liberation Sans"/>
                <a:cs typeface="Liberation Sans"/>
              </a:rPr>
              <a:t>deserves a buyer</a:t>
            </a:r>
          </a:p>
        </p:txBody>
      </p:sp>
      <p:sp>
        <p:nvSpPr>
          <p:cNvPr id="5" name="Recovery for cancelled&#10;wholesale produce orders">
            <a:extLst xmlns:a="http://schemas.openxmlformats.org/drawingml/2006/main">
              <a:ext uri="{FF2B5EF4-FFF2-40B4-BE49-F238E27FC236}">
                <a16:creationId xmlns:a16="http://schemas.microsoft.com/office/drawing/2014/main" id="{DF27CEBF-0522-4AF2-AD4F-F843B92E384B}"/>
              </a:ext>
            </a:extLst>
          </p:cNvPr>
          <p:cNvSpPr>
            <a:spLocks xmlns:a="http://schemas.openxmlformats.org/drawingml/2006/main" noGrp="1"/>
          </p:cNvSpPr>
          <p:nvPr/>
        </p:nvSpPr>
        <p:spPr>
          <a:xfrm xmlns:a="http://schemas.openxmlformats.org/drawingml/2006/main">
            <a:off x="666750" y="4533900"/>
            <a:ext cx="571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7F8F5"/>
                </a:solidFill>
                <a:latin typeface="Liberation Sans"/>
                <a:ea typeface="Liberation Sans"/>
                <a:cs typeface="Liberation Sans"/>
              </a:defRPr>
            </a:pPr>
            <a:r>
              <a:rPr sz="2175" b="0">
                <a:solidFill>
                  <a:srgbClr val="F7F8F5"/>
                </a:solidFill>
                <a:latin typeface="Liberation Sans"/>
                <a:ea typeface="Liberation Sans"/>
                <a:cs typeface="Liberation Sans"/>
              </a:rPr>
              <a:t>Recovery for cancelled</a:t>
            </a:r>
          </a:p>
          <a:p xmlns:a="http://schemas.openxmlformats.org/drawingml/2006/main">
            <a:pPr>
              <a:defRPr sz="2175" b="0">
                <a:solidFill>
                  <a:srgbClr val="F7F8F5"/>
                </a:solidFill>
                <a:latin typeface="Liberation Sans"/>
                <a:ea typeface="Liberation Sans"/>
                <a:cs typeface="Liberation Sans"/>
              </a:defRPr>
            </a:pPr>
            <a:r>
              <a:rPr sz="2175" b="0">
                <a:solidFill>
                  <a:srgbClr val="F7F8F5"/>
                </a:solidFill>
                <a:latin typeface="Liberation Sans"/>
                <a:ea typeface="Liberation Sans"/>
                <a:cs typeface="Liberation Sans"/>
              </a:rPr>
              <a:t>wholesale produce orders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33047df473e4e09"/>
          <a:stretch xmlns:a="http://schemas.openxmlformats.org/drawingml/2006/main"/>
        </p:blipFill>
        <p:spPr>
          <a:xfrm xmlns:a="http://schemas.openxmlformats.org/drawingml/2006/main">
            <a:off x="6553200" y="1753791"/>
            <a:ext cx="5143500" cy="3321844"/>
          </a:xfrm>
          <a:prstGeom xmlns:a="http://schemas.openxmlformats.org/drawingml/2006/main" prst="rect">
            <a:avLst/>
          </a:prstGeom>
        </p:spPr>
      </p:pic>
      <p:sp>
        <p:nvSpPr>
          <p:cNvPr id="7" name="Shivam Gupta">
            <a:extLst xmlns:a="http://schemas.openxmlformats.org/drawingml/2006/main">
              <a:ext uri="{FF2B5EF4-FFF2-40B4-BE49-F238E27FC236}">
                <a16:creationId xmlns:a16="http://schemas.microsoft.com/office/drawing/2014/main" id="{94D8397C-F5D5-4ADB-B180-3692C9375DC0}"/>
              </a:ext>
            </a:extLst>
          </p:cNvPr>
          <p:cNvSpPr>
            <a:spLocks xmlns:a="http://schemas.openxmlformats.org/drawingml/2006/main" noGrp="1"/>
          </p:cNvSpPr>
          <p:nvPr/>
        </p:nvSpPr>
        <p:spPr>
          <a:xfrm xmlns:a="http://schemas.openxmlformats.org/drawingml/2006/main">
            <a:off x="676275" y="56769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4E9A8"/>
                </a:solidFill>
                <a:latin typeface="Liberation Sans"/>
                <a:ea typeface="Liberation Sans"/>
                <a:cs typeface="Liberation Sans"/>
              </a:defRPr>
            </a:pPr>
            <a:r>
              <a:rPr sz="1800" b="1">
                <a:solidFill>
                  <a:srgbClr val="D4E9A8"/>
                </a:solidFill>
                <a:latin typeface="Liberation Sans"/>
                <a:ea typeface="Liberation Sans"/>
                <a:cs typeface="Liberation Sans"/>
              </a:rPr>
              <a:t>Shivam Gupta</a:t>
            </a:r>
          </a:p>
        </p:txBody>
      </p:sp>
      <p:sp>
        <p:nvSpPr>
          <p:cNvPr id="8" name="AWS CDS Agentic AI Partner Hackathon">
            <a:extLst xmlns:a="http://schemas.openxmlformats.org/drawingml/2006/main">
              <a:ext uri="{FF2B5EF4-FFF2-40B4-BE49-F238E27FC236}">
                <a16:creationId xmlns:a16="http://schemas.microsoft.com/office/drawing/2014/main" id="{7F50B59A-7A89-427F-878E-4069E6F6AD61}"/>
              </a:ext>
            </a:extLst>
          </p:cNvPr>
          <p:cNvSpPr>
            <a:spLocks xmlns:a="http://schemas.openxmlformats.org/drawingml/2006/main" noGrp="1"/>
          </p:cNvSpPr>
          <p:nvPr/>
        </p:nvSpPr>
        <p:spPr>
          <a:xfrm xmlns:a="http://schemas.openxmlformats.org/drawingml/2006/main">
            <a:off x="676275" y="6010275"/>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7F8F5"/>
                </a:solidFill>
                <a:latin typeface="Liberation Sans"/>
                <a:ea typeface="Liberation Sans"/>
                <a:cs typeface="Liberation Sans"/>
              </a:defRPr>
            </a:pPr>
            <a:r>
              <a:rPr sz="1425" b="0">
                <a:solidFill>
                  <a:srgbClr val="F7F8F5"/>
                </a:solidFill>
                <a:latin typeface="Liberation Sans"/>
                <a:ea typeface="Liberation Sans"/>
                <a:cs typeface="Liberation Sans"/>
              </a:rPr>
              <a:t>AWS CDS Agentic AI Partner Hackathon</a:t>
            </a:r>
          </a:p>
        </p:txBody>
      </p:sp>
    </p:spTree>
    <p:extLst>
      <p:ext uri="{BB962C8B-B14F-4D97-AF65-F5344CB8AC3E}">
        <p14:creationId xmlns:p14="http://schemas.microsoft.com/office/powerpoint/2010/main" val="787787744"/>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6" name="A cancelled order leaves a clock running">
            <a:extLst xmlns:a="http://schemas.openxmlformats.org/drawingml/2006/main">
              <a:ext uri="{FF2B5EF4-FFF2-40B4-BE49-F238E27FC236}">
                <a16:creationId xmlns:a16="http://schemas.microsoft.com/office/drawing/2014/main" id="{C13A38E5-D11A-4846-B878-1ACB47C8612C}"/>
              </a:ext>
            </a:extLst>
          </p:cNvPr>
          <p:cNvSpPr>
            <a:spLocks xmlns:a="http://schemas.openxmlformats.org/drawingml/2006/main" noGrp="1"/>
          </p:cNvSpPr>
          <p:nvPr/>
        </p:nvSpPr>
        <p:spPr>
          <a:xfrm xmlns:a="http://schemas.openxmlformats.org/drawingml/2006/main">
            <a:off x="609600" y="5334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4C3A"/>
                </a:solidFill>
                <a:latin typeface="Liberation Sans"/>
                <a:ea typeface="Liberation Sans"/>
                <a:cs typeface="Liberation Sans"/>
              </a:defRPr>
            </a:pPr>
            <a:r>
              <a:rPr sz="4050" b="1">
                <a:solidFill>
                  <a:srgbClr val="244C3A"/>
                </a:solidFill>
                <a:latin typeface="Liberation Sans"/>
                <a:ea typeface="Liberation Sans"/>
                <a:cs typeface="Liberation Sans"/>
              </a:rPr>
              <a:t>A cancelled order leaves a clock running</a:t>
            </a:r>
          </a:p>
        </p:txBody>
      </p:sp>
      <p:sp>
        <p:nvSpPr>
          <p:cNvPr id="2" name="SECONDCRATE">
            <a:extLst xmlns:a="http://schemas.openxmlformats.org/drawingml/2006/main">
              <a:ext uri="{FF2B5EF4-FFF2-40B4-BE49-F238E27FC236}">
                <a16:creationId xmlns:a16="http://schemas.microsoft.com/office/drawing/2014/main" id="{74C22498-7F4B-4AB0-8900-555533815794}"/>
              </a:ext>
            </a:extLst>
          </p:cNvPr>
          <p:cNvSpPr>
            <a:spLocks xmlns:a="http://schemas.openxmlformats.org/drawingml/2006/main" noGrp="1"/>
          </p:cNvSpPr>
          <p:nvPr/>
        </p:nvSpPr>
        <p:spPr>
          <a:xfrm xmlns:a="http://schemas.openxmlformats.org/drawingml/2006/main">
            <a:off x="609600" y="64198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17065"/>
                </a:solidFill>
                <a:latin typeface="Liberation Sans"/>
                <a:ea typeface="Liberation Sans"/>
                <a:cs typeface="Liberation Sans"/>
              </a:defRPr>
            </a:pPr>
            <a:r>
              <a:rPr sz="1125" b="1">
                <a:solidFill>
                  <a:srgbClr val="617065"/>
                </a:solidFill>
                <a:latin typeface="Liberation Sans"/>
                <a:ea typeface="Liberation Sans"/>
                <a:cs typeface="Liberation Sans"/>
              </a:rPr>
              <a:t>SECONDCRATE</a:t>
            </a:r>
          </a:p>
        </p:txBody>
      </p:sp>
      <p:sp>
        <p:nvSpPr>
          <p:cNvPr id="3" name="02">
            <a:extLst xmlns:a="http://schemas.openxmlformats.org/drawingml/2006/main">
              <a:ext uri="{FF2B5EF4-FFF2-40B4-BE49-F238E27FC236}">
                <a16:creationId xmlns:a16="http://schemas.microsoft.com/office/drawing/2014/main" id="{FEA36D2A-DB8E-4760-845E-52070ADBDBD6}"/>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17065"/>
                </a:solidFill>
                <a:latin typeface="Liberation Sans"/>
                <a:ea typeface="Liberation Sans"/>
                <a:cs typeface="Liberation Sans"/>
              </a:defRPr>
            </a:pPr>
            <a:r>
              <a:rPr sz="1125" b="0">
                <a:solidFill>
                  <a:srgbClr val="617065"/>
                </a:solidFill>
                <a:latin typeface="Liberation Sans"/>
                <a:ea typeface="Liberation Sans"/>
                <a:cs typeface="Liberation Sans"/>
              </a:rPr>
              <a:t>02</a:t>
            </a:r>
          </a:p>
        </p:txBody>
      </p:sp>
      <p:sp>
        <p:nvSpPr>
          <p:cNvPr id="4" name="40">
            <a:extLst xmlns:a="http://schemas.openxmlformats.org/drawingml/2006/main">
              <a:ext uri="{FF2B5EF4-FFF2-40B4-BE49-F238E27FC236}">
                <a16:creationId xmlns:a16="http://schemas.microsoft.com/office/drawing/2014/main" id="{24C90F3A-86A4-4E60-B597-F8500D15D64A}"/>
              </a:ext>
            </a:extLst>
          </p:cNvPr>
          <p:cNvSpPr>
            <a:spLocks xmlns:a="http://schemas.openxmlformats.org/drawingml/2006/main" noGrp="1"/>
          </p:cNvSpPr>
          <p:nvPr/>
        </p:nvSpPr>
        <p:spPr>
          <a:xfrm xmlns:a="http://schemas.openxmlformats.org/drawingml/2006/main">
            <a:off x="609600" y="1724025"/>
            <a:ext cx="47148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100" b="1">
                <a:solidFill>
                  <a:srgbClr val="DF865B"/>
                </a:solidFill>
                <a:latin typeface="Liberation Sans"/>
                <a:ea typeface="Liberation Sans"/>
                <a:cs typeface="Liberation Sans"/>
              </a:defRPr>
            </a:pPr>
            <a:r>
              <a:rPr sz="11100" b="1">
                <a:solidFill>
                  <a:srgbClr val="DF865B"/>
                </a:solidFill>
                <a:latin typeface="Liberation Sans"/>
                <a:ea typeface="Liberation Sans"/>
                <a:cs typeface="Liberation Sans"/>
              </a:rPr>
              <a:t>40</a:t>
            </a:r>
          </a:p>
        </p:txBody>
      </p:sp>
      <p:sp>
        <p:nvSpPr>
          <p:cNvPr id="5" name="crates of cherry tomatoes">
            <a:extLst xmlns:a="http://schemas.openxmlformats.org/drawingml/2006/main">
              <a:ext uri="{FF2B5EF4-FFF2-40B4-BE49-F238E27FC236}">
                <a16:creationId xmlns:a16="http://schemas.microsoft.com/office/drawing/2014/main" id="{A0B48E64-D3C6-4413-BD90-02F1240C8665}"/>
              </a:ext>
            </a:extLst>
          </p:cNvPr>
          <p:cNvSpPr>
            <a:spLocks xmlns:a="http://schemas.openxmlformats.org/drawingml/2006/main" noGrp="1"/>
          </p:cNvSpPr>
          <p:nvPr/>
        </p:nvSpPr>
        <p:spPr>
          <a:xfrm xmlns:a="http://schemas.openxmlformats.org/drawingml/2006/main">
            <a:off x="704850" y="3448050"/>
            <a:ext cx="461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4C3A"/>
                </a:solidFill>
                <a:latin typeface="Liberation Sans"/>
                <a:ea typeface="Liberation Sans"/>
                <a:cs typeface="Liberation Sans"/>
              </a:defRPr>
            </a:pPr>
            <a:r>
              <a:rPr sz="2550" b="1">
                <a:solidFill>
                  <a:srgbClr val="244C3A"/>
                </a:solidFill>
                <a:latin typeface="Liberation Sans"/>
                <a:ea typeface="Liberation Sans"/>
                <a:cs typeface="Liberation Sans"/>
              </a:rPr>
              <a:t>crates of cherry tomatoes</a:t>
            </a:r>
          </a:p>
        </p:txBody>
      </p:sp>
      <p:sp>
        <p:nvSpPr>
          <p:cNvPr id="6" name="200 kg already at the depot">
            <a:extLst xmlns:a="http://schemas.openxmlformats.org/drawingml/2006/main">
              <a:ext uri="{FF2B5EF4-FFF2-40B4-BE49-F238E27FC236}">
                <a16:creationId xmlns:a16="http://schemas.microsoft.com/office/drawing/2014/main" id="{CD0465A0-E4AA-4A4A-88C1-713EDFD22137}"/>
              </a:ext>
            </a:extLst>
          </p:cNvPr>
          <p:cNvSpPr>
            <a:spLocks xmlns:a="http://schemas.openxmlformats.org/drawingml/2006/main" noGrp="1"/>
          </p:cNvSpPr>
          <p:nvPr/>
        </p:nvSpPr>
        <p:spPr>
          <a:xfrm xmlns:a="http://schemas.openxmlformats.org/drawingml/2006/main">
            <a:off x="704850" y="4038600"/>
            <a:ext cx="447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065"/>
                </a:solidFill>
                <a:latin typeface="Liberation Sans"/>
                <a:ea typeface="Liberation Sans"/>
                <a:cs typeface="Liberation Sans"/>
              </a:defRPr>
            </a:pPr>
            <a:r>
              <a:rPr sz="2025" b="0">
                <a:solidFill>
                  <a:srgbClr val="617065"/>
                </a:solidFill>
                <a:latin typeface="Liberation Sans"/>
                <a:ea typeface="Liberation Sans"/>
                <a:cs typeface="Liberation Sans"/>
              </a:rPr>
              <a:t>200 kg already at the depot</a:t>
            </a:r>
          </a:p>
        </p:txBody>
      </p:sp>
      <p:sp>
        <p:nvSpPr>
          <p:cNvPr id="7" name="">
            <a:extLst xmlns:a="http://schemas.openxmlformats.org/drawingml/2006/main">
              <a:ext uri="{FF2B5EF4-FFF2-40B4-BE49-F238E27FC236}">
                <a16:creationId xmlns:a16="http://schemas.microsoft.com/office/drawing/2014/main" id="{92D951CB-9E35-4DCB-9559-6B0B6F995CB2}"/>
              </a:ext>
            </a:extLst>
          </p:cNvPr>
          <p:cNvSpPr>
            <a:spLocks xmlns:a="http://schemas.openxmlformats.org/drawingml/2006/main" noGrp="1"/>
          </p:cNvSpPr>
          <p:nvPr/>
        </p:nvSpPr>
        <p:spPr>
          <a:xfrm xmlns:a="http://schemas.openxmlformats.org/drawingml/2006/main">
            <a:off x="6153150" y="1943100"/>
            <a:ext cx="5105400" cy="1162050"/>
          </a:xfrm>
          <a:prstGeom xmlns:a="http://schemas.openxmlformats.org/drawingml/2006/main" prst="rect">
            <a:avLst/>
          </a:prstGeom>
          <a:solidFill xmlns:a="http://schemas.openxmlformats.org/drawingml/2006/main">
            <a:srgbClr val="D4E9A8"/>
          </a:solidFill>
          <a:ln xmlns:a="http://schemas.openxmlformats.org/drawingml/2006/main" w="0">
            <a:noFill/>
          </a:ln>
        </p:spPr>
      </p:sp>
      <p:sp>
        <p:nvSpPr>
          <p:cNvPr id="8" name="An order cancels">
            <a:extLst xmlns:a="http://schemas.openxmlformats.org/drawingml/2006/main">
              <a:ext uri="{FF2B5EF4-FFF2-40B4-BE49-F238E27FC236}">
                <a16:creationId xmlns:a16="http://schemas.microsoft.com/office/drawing/2014/main" id="{F6D055FB-925B-4D8B-B852-45D1AB589C97}"/>
              </a:ext>
            </a:extLst>
          </p:cNvPr>
          <p:cNvSpPr>
            <a:spLocks xmlns:a="http://schemas.openxmlformats.org/drawingml/2006/main" noGrp="1"/>
          </p:cNvSpPr>
          <p:nvPr/>
        </p:nvSpPr>
        <p:spPr>
          <a:xfrm xmlns:a="http://schemas.openxmlformats.org/drawingml/2006/main">
            <a:off x="6324600" y="20859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4C3A"/>
                </a:solidFill>
                <a:latin typeface="Liberation Sans"/>
                <a:ea typeface="Liberation Sans"/>
                <a:cs typeface="Liberation Sans"/>
              </a:defRPr>
            </a:pPr>
            <a:r>
              <a:rPr sz="2550" b="1">
                <a:solidFill>
                  <a:srgbClr val="244C3A"/>
                </a:solidFill>
                <a:latin typeface="Liberation Sans"/>
                <a:ea typeface="Liberation Sans"/>
                <a:cs typeface="Liberation Sans"/>
              </a:rPr>
              <a:t>An order cancels</a:t>
            </a:r>
          </a:p>
        </p:txBody>
      </p:sp>
      <p:sp>
        <p:nvSpPr>
          <p:cNvPr id="9" name="The lot is already at the depot">
            <a:extLst xmlns:a="http://schemas.openxmlformats.org/drawingml/2006/main">
              <a:ext uri="{FF2B5EF4-FFF2-40B4-BE49-F238E27FC236}">
                <a16:creationId xmlns:a16="http://schemas.microsoft.com/office/drawing/2014/main" id="{96CE8620-56C6-4EB0-A713-51AF2D68F4DA}"/>
              </a:ext>
            </a:extLst>
          </p:cNvPr>
          <p:cNvSpPr>
            <a:spLocks xmlns:a="http://schemas.openxmlformats.org/drawingml/2006/main" noGrp="1"/>
          </p:cNvSpPr>
          <p:nvPr/>
        </p:nvSpPr>
        <p:spPr>
          <a:xfrm xmlns:a="http://schemas.openxmlformats.org/drawingml/2006/main">
            <a:off x="6324600" y="245745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The lot is already at the depot</a:t>
            </a:r>
          </a:p>
        </p:txBody>
      </p:sp>
      <p:sp>
        <p:nvSpPr>
          <p:cNvPr id="10" name="">
            <a:extLst xmlns:a="http://schemas.openxmlformats.org/drawingml/2006/main">
              <a:ext uri="{FF2B5EF4-FFF2-40B4-BE49-F238E27FC236}">
                <a16:creationId xmlns:a16="http://schemas.microsoft.com/office/drawing/2014/main" id="{00FFE90B-5CEA-4DF6-B4C0-962778042699}"/>
              </a:ext>
            </a:extLst>
          </p:cNvPr>
          <p:cNvSpPr>
            <a:spLocks xmlns:a="http://schemas.openxmlformats.org/drawingml/2006/main" noGrp="1"/>
          </p:cNvSpPr>
          <p:nvPr/>
        </p:nvSpPr>
        <p:spPr>
          <a:xfrm xmlns:a="http://schemas.openxmlformats.org/drawingml/2006/main">
            <a:off x="6153150" y="3819525"/>
            <a:ext cx="5105400" cy="1162050"/>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11" name="Dispatch approaches">
            <a:extLst xmlns:a="http://schemas.openxmlformats.org/drawingml/2006/main">
              <a:ext uri="{FF2B5EF4-FFF2-40B4-BE49-F238E27FC236}">
                <a16:creationId xmlns:a16="http://schemas.microsoft.com/office/drawing/2014/main" id="{B7BE369E-9B07-44EB-993B-F53F10EA156E}"/>
              </a:ext>
            </a:extLst>
          </p:cNvPr>
          <p:cNvSpPr>
            <a:spLocks xmlns:a="http://schemas.openxmlformats.org/drawingml/2006/main" noGrp="1"/>
          </p:cNvSpPr>
          <p:nvPr/>
        </p:nvSpPr>
        <p:spPr>
          <a:xfrm xmlns:a="http://schemas.openxmlformats.org/drawingml/2006/main">
            <a:off x="6324600" y="39624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4C3A"/>
                </a:solidFill>
                <a:latin typeface="Liberation Sans"/>
                <a:ea typeface="Liberation Sans"/>
                <a:cs typeface="Liberation Sans"/>
              </a:defRPr>
            </a:pPr>
            <a:r>
              <a:rPr sz="2550" b="1">
                <a:solidFill>
                  <a:srgbClr val="244C3A"/>
                </a:solidFill>
                <a:latin typeface="Liberation Sans"/>
                <a:ea typeface="Liberation Sans"/>
                <a:cs typeface="Liberation Sans"/>
              </a:rPr>
              <a:t>Dispatch approaches</a:t>
            </a:r>
          </a:p>
        </p:txBody>
      </p:sp>
      <p:sp>
        <p:nvSpPr>
          <p:cNvPr id="12" name="The operator sets the available window">
            <a:extLst xmlns:a="http://schemas.openxmlformats.org/drawingml/2006/main">
              <a:ext uri="{FF2B5EF4-FFF2-40B4-BE49-F238E27FC236}">
                <a16:creationId xmlns:a16="http://schemas.microsoft.com/office/drawing/2014/main" id="{D44D2E43-740F-4850-861F-DA4238A27BEF}"/>
              </a:ext>
            </a:extLst>
          </p:cNvPr>
          <p:cNvSpPr>
            <a:spLocks xmlns:a="http://schemas.openxmlformats.org/drawingml/2006/main" noGrp="1"/>
          </p:cNvSpPr>
          <p:nvPr/>
        </p:nvSpPr>
        <p:spPr>
          <a:xfrm xmlns:a="http://schemas.openxmlformats.org/drawingml/2006/main">
            <a:off x="6324600" y="4333875"/>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The operator sets the available window</a:t>
            </a:r>
          </a:p>
        </p:txBody>
      </p:sp>
      <p:cxnSp>
        <p:nvCxnSpPr>
          <p:cNvPr id="28" name=""/>
          <p:cNvCxnSpPr>
            <a:stCxn xmlns:a="http://schemas.openxmlformats.org/drawingml/2006/main" id="7" idx="2"/>
            <a:endCxn xmlns:a="http://schemas.openxmlformats.org/drawingml/2006/main" id="10" idx="0"/>
          </p:cNvCxnSpPr>
          <p:nvPr/>
        </p:nvCxnSpPr>
        <p:spPr>
          <a:xfrm xmlns:a="http://schemas.openxmlformats.org/drawingml/2006/main">
            <a:off x="8705850" y="3105150"/>
            <a:ext cx="0" cy="714375"/>
          </a:xfrm>
          <a:prstGeom xmlns:a="http://schemas.openxmlformats.org/drawingml/2006/main" prst="straightConnector1">
            <a:avLst/>
          </a:prstGeom>
          <a:ln xmlns:a="http://schemas.openxmlformats.org/drawingml/2006/main" w="22860">
            <a:solidFill>
              <a:srgbClr val="617065"/>
            </a:solidFill>
            <a:tailEnd type="triangle" w="sm" len="sm"/>
          </a:ln>
        </p:spPr>
      </p:cxnSp>
      <p:sp>
        <p:nvSpPr>
          <p:cNvPr id="14" name="Who can take the lot within the existing plan?">
            <a:extLst xmlns:a="http://schemas.openxmlformats.org/drawingml/2006/main">
              <a:ext uri="{FF2B5EF4-FFF2-40B4-BE49-F238E27FC236}">
                <a16:creationId xmlns:a16="http://schemas.microsoft.com/office/drawing/2014/main" id="{517DD52F-2F54-4AAE-BD8E-5F639CD4FE53}"/>
              </a:ext>
            </a:extLst>
          </p:cNvPr>
          <p:cNvSpPr>
            <a:spLocks xmlns:a="http://schemas.openxmlformats.org/drawingml/2006/main" noGrp="1"/>
          </p:cNvSpPr>
          <p:nvPr/>
        </p:nvSpPr>
        <p:spPr>
          <a:xfrm xmlns:a="http://schemas.openxmlformats.org/drawingml/2006/main">
            <a:off x="704850" y="530542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4C3A"/>
                </a:solidFill>
                <a:latin typeface="Liberation Sans"/>
                <a:ea typeface="Liberation Sans"/>
                <a:cs typeface="Liberation Sans"/>
              </a:defRPr>
            </a:pPr>
            <a:r>
              <a:rPr sz="2325" b="1">
                <a:solidFill>
                  <a:srgbClr val="244C3A"/>
                </a:solidFill>
                <a:latin typeface="Liberation Sans"/>
                <a:ea typeface="Liberation Sans"/>
                <a:cs typeface="Liberation Sans"/>
              </a:rPr>
              <a:t>Who can take the lot within the existing plan?</a:t>
            </a:r>
          </a:p>
        </p:txBody>
      </p:sp>
      <p:sp>
        <p:nvSpPr>
          <p:cNvPr id="15" name="Illustrative London scenario. The operator sets the ">
            <a:extLst xmlns:a="http://schemas.openxmlformats.org/drawingml/2006/main">
              <a:ext uri="{FF2B5EF4-FFF2-40B4-BE49-F238E27FC236}">
                <a16:creationId xmlns:a16="http://schemas.microsoft.com/office/drawing/2014/main" id="{70B24B00-29A9-4C7E-BA45-9365EBDC6679}"/>
              </a:ext>
            </a:extLst>
          </p:cNvPr>
          <p:cNvSpPr>
            <a:spLocks xmlns:a="http://schemas.openxmlformats.org/drawingml/2006/main" noGrp="1"/>
          </p:cNvSpPr>
          <p:nvPr/>
        </p:nvSpPr>
        <p:spPr>
          <a:xfrm xmlns:a="http://schemas.openxmlformats.org/drawingml/2006/main">
            <a:off x="704850" y="5953125"/>
            <a:ext cx="1033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5"/>
                </a:solidFill>
                <a:latin typeface="Liberation Sans"/>
                <a:ea typeface="Liberation Sans"/>
                <a:cs typeface="Liberation Sans"/>
              </a:defRPr>
            </a:pPr>
            <a:r>
              <a:rPr sz="1275" b="0">
                <a:solidFill>
                  <a:srgbClr val="617065"/>
                </a:solidFill>
                <a:latin typeface="Liberation Sans"/>
                <a:ea typeface="Liberation Sans"/>
                <a:cs typeface="Liberation Sans"/>
              </a:rPr>
              <a:t>Illustrative London scenario. The operator sets the dispatch cutoff and releases the stock.</a:t>
            </a:r>
          </a:p>
        </p:txBody>
      </p:sp>
    </p:spTree>
    <p:extLst>
      <p:ext uri="{BB962C8B-B14F-4D97-AF65-F5344CB8AC3E}">
        <p14:creationId xmlns:p14="http://schemas.microsoft.com/office/powerpoint/2010/main" val="19759231"/>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2" name="The buyer can answer in their own words">
            <a:extLst xmlns:a="http://schemas.openxmlformats.org/drawingml/2006/main">
              <a:ext uri="{FF2B5EF4-FFF2-40B4-BE49-F238E27FC236}">
                <a16:creationId xmlns:a16="http://schemas.microsoft.com/office/drawing/2014/main" id="{51DE39C5-06AA-4E8D-B12B-F0A147BB93F5}"/>
              </a:ext>
            </a:extLst>
          </p:cNvPr>
          <p:cNvSpPr>
            <a:spLocks xmlns:a="http://schemas.openxmlformats.org/drawingml/2006/main" noGrp="1"/>
          </p:cNvSpPr>
          <p:nvPr/>
        </p:nvSpPr>
        <p:spPr>
          <a:xfrm xmlns:a="http://schemas.openxmlformats.org/drawingml/2006/main">
            <a:off x="609600" y="5334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4C3A"/>
                </a:solidFill>
                <a:latin typeface="Liberation Sans"/>
                <a:ea typeface="Liberation Sans"/>
                <a:cs typeface="Liberation Sans"/>
              </a:defRPr>
            </a:pPr>
            <a:r>
              <a:rPr sz="4050" b="1">
                <a:solidFill>
                  <a:srgbClr val="244C3A"/>
                </a:solidFill>
                <a:latin typeface="Liberation Sans"/>
                <a:ea typeface="Liberation Sans"/>
                <a:cs typeface="Liberation Sans"/>
              </a:rPr>
              <a:t>The buyer can answer in their own words</a:t>
            </a:r>
          </a:p>
        </p:txBody>
      </p:sp>
      <p:sp>
        <p:nvSpPr>
          <p:cNvPr id="2" name="SECONDCRATE">
            <a:extLst xmlns:a="http://schemas.openxmlformats.org/drawingml/2006/main">
              <a:ext uri="{FF2B5EF4-FFF2-40B4-BE49-F238E27FC236}">
                <a16:creationId xmlns:a16="http://schemas.microsoft.com/office/drawing/2014/main" id="{EE331C94-3702-4250-9CCC-EEDEC86E8BA3}"/>
              </a:ext>
            </a:extLst>
          </p:cNvPr>
          <p:cNvSpPr>
            <a:spLocks xmlns:a="http://schemas.openxmlformats.org/drawingml/2006/main" noGrp="1"/>
          </p:cNvSpPr>
          <p:nvPr/>
        </p:nvSpPr>
        <p:spPr>
          <a:xfrm xmlns:a="http://schemas.openxmlformats.org/drawingml/2006/main">
            <a:off x="609600" y="64198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17065"/>
                </a:solidFill>
                <a:latin typeface="Liberation Sans"/>
                <a:ea typeface="Liberation Sans"/>
                <a:cs typeface="Liberation Sans"/>
              </a:defRPr>
            </a:pPr>
            <a:r>
              <a:rPr sz="1125" b="1">
                <a:solidFill>
                  <a:srgbClr val="617065"/>
                </a:solidFill>
                <a:latin typeface="Liberation Sans"/>
                <a:ea typeface="Liberation Sans"/>
                <a:cs typeface="Liberation Sans"/>
              </a:rPr>
              <a:t>SECONDCRATE</a:t>
            </a:r>
          </a:p>
        </p:txBody>
      </p:sp>
      <p:sp>
        <p:nvSpPr>
          <p:cNvPr id="3" name="03">
            <a:extLst xmlns:a="http://schemas.openxmlformats.org/drawingml/2006/main">
              <a:ext uri="{FF2B5EF4-FFF2-40B4-BE49-F238E27FC236}">
                <a16:creationId xmlns:a16="http://schemas.microsoft.com/office/drawing/2014/main" id="{C8B28635-4063-4154-A4B5-83A0D06A8965}"/>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17065"/>
                </a:solidFill>
                <a:latin typeface="Liberation Sans"/>
                <a:ea typeface="Liberation Sans"/>
                <a:cs typeface="Liberation Sans"/>
              </a:defRPr>
            </a:pPr>
            <a:r>
              <a:rPr sz="1125" b="0">
                <a:solidFill>
                  <a:srgbClr val="617065"/>
                </a:solidFill>
                <a:latin typeface="Liberation Sans"/>
                <a:ea typeface="Liberation Sans"/>
                <a:cs typeface="Liberation Sans"/>
              </a:rPr>
              <a:t>03</a:t>
            </a:r>
          </a:p>
        </p:txBody>
      </p:sp>
      <p:sp>
        <p:nvSpPr>
          <p:cNvPr id="4" name="“Twelve crates at seventeen pounds,&#10;if you can deliv">
            <a:extLst xmlns:a="http://schemas.openxmlformats.org/drawingml/2006/main">
              <a:ext uri="{FF2B5EF4-FFF2-40B4-BE49-F238E27FC236}">
                <a16:creationId xmlns:a16="http://schemas.microsoft.com/office/drawing/2014/main" id="{59A577E1-9B03-4F13-9DD4-1636C38EC179}"/>
              </a:ext>
            </a:extLst>
          </p:cNvPr>
          <p:cNvSpPr>
            <a:spLocks xmlns:a="http://schemas.openxmlformats.org/drawingml/2006/main" noGrp="1"/>
          </p:cNvSpPr>
          <p:nvPr/>
        </p:nvSpPr>
        <p:spPr>
          <a:xfrm xmlns:a="http://schemas.openxmlformats.org/drawingml/2006/main">
            <a:off x="647700" y="1704975"/>
            <a:ext cx="10715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44C3A"/>
                </a:solidFill>
                <a:latin typeface="Liberation Sans"/>
                <a:ea typeface="Liberation Sans"/>
                <a:cs typeface="Liberation Sans"/>
              </a:defRPr>
            </a:pPr>
            <a:r>
              <a:rPr sz="3225" b="1">
                <a:solidFill>
                  <a:srgbClr val="244C3A"/>
                </a:solidFill>
                <a:latin typeface="Liberation Sans"/>
                <a:ea typeface="Liberation Sans"/>
                <a:cs typeface="Liberation Sans"/>
              </a:rPr>
              <a:t>“Twelve crates at seventeen pounds,</a:t>
            </a:r>
          </a:p>
          <a:p xmlns:a="http://schemas.openxmlformats.org/drawingml/2006/main">
            <a:pPr>
              <a:defRPr sz="3225" b="1">
                <a:solidFill>
                  <a:srgbClr val="244C3A"/>
                </a:solidFill>
                <a:latin typeface="Liberation Sans"/>
                <a:ea typeface="Liberation Sans"/>
                <a:cs typeface="Liberation Sans"/>
              </a:defRPr>
            </a:pPr>
            <a:r>
              <a:rPr sz="3225" b="1">
                <a:solidFill>
                  <a:srgbClr val="244C3A"/>
                </a:solidFill>
                <a:latin typeface="Liberation Sans"/>
                <a:ea typeface="Liberation Sans"/>
                <a:cs typeface="Liberation Sans"/>
              </a:rPr>
              <a:t>if you can deliver before two.”</a:t>
            </a:r>
          </a:p>
        </p:txBody>
      </p:sp>
      <p:sp>
        <p:nvSpPr>
          <p:cNvPr id="5" name="">
            <a:extLst xmlns:a="http://schemas.openxmlformats.org/drawingml/2006/main">
              <a:ext uri="{FF2B5EF4-FFF2-40B4-BE49-F238E27FC236}">
                <a16:creationId xmlns:a16="http://schemas.microsoft.com/office/drawing/2014/main" id="{4C1D6048-1201-442B-8363-E87D1EF94893}"/>
              </a:ext>
            </a:extLst>
          </p:cNvPr>
          <p:cNvSpPr>
            <a:spLocks xmlns:a="http://schemas.openxmlformats.org/drawingml/2006/main" noGrp="1"/>
          </p:cNvSpPr>
          <p:nvPr/>
        </p:nvSpPr>
        <p:spPr>
          <a:xfrm xmlns:a="http://schemas.openxmlformats.org/drawingml/2006/main">
            <a:off x="666750" y="3438525"/>
            <a:ext cx="2333625" cy="1009650"/>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6" name="Cancellation">
            <a:extLst xmlns:a="http://schemas.openxmlformats.org/drawingml/2006/main">
              <a:ext uri="{FF2B5EF4-FFF2-40B4-BE49-F238E27FC236}">
                <a16:creationId xmlns:a16="http://schemas.microsoft.com/office/drawing/2014/main" id="{AF9C16DE-FB6C-47D2-8539-EAEFB03EA72B}"/>
              </a:ext>
            </a:extLst>
          </p:cNvPr>
          <p:cNvSpPr>
            <a:spLocks xmlns:a="http://schemas.openxmlformats.org/drawingml/2006/main" noGrp="1"/>
          </p:cNvSpPr>
          <p:nvPr/>
        </p:nvSpPr>
        <p:spPr>
          <a:xfrm xmlns:a="http://schemas.openxmlformats.org/drawingml/2006/main">
            <a:off x="838200" y="3581400"/>
            <a:ext cx="1990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C3A"/>
                </a:solidFill>
                <a:latin typeface="Liberation Sans"/>
                <a:ea typeface="Liberation Sans"/>
                <a:cs typeface="Liberation Sans"/>
              </a:defRPr>
            </a:pPr>
            <a:r>
              <a:rPr sz="1875" b="1">
                <a:solidFill>
                  <a:srgbClr val="244C3A"/>
                </a:solidFill>
                <a:latin typeface="Liberation Sans"/>
                <a:ea typeface="Liberation Sans"/>
                <a:cs typeface="Liberation Sans"/>
              </a:rPr>
              <a:t>Cancellation</a:t>
            </a:r>
          </a:p>
        </p:txBody>
      </p:sp>
      <p:sp>
        <p:nvSpPr>
          <p:cNvPr id="7" name="Operator releases stock">
            <a:extLst xmlns:a="http://schemas.openxmlformats.org/drawingml/2006/main">
              <a:ext uri="{FF2B5EF4-FFF2-40B4-BE49-F238E27FC236}">
                <a16:creationId xmlns:a16="http://schemas.microsoft.com/office/drawing/2014/main" id="{AE8A413F-5F7A-4E05-918B-A823951691DD}"/>
              </a:ext>
            </a:extLst>
          </p:cNvPr>
          <p:cNvSpPr>
            <a:spLocks xmlns:a="http://schemas.openxmlformats.org/drawingml/2006/main" noGrp="1"/>
          </p:cNvSpPr>
          <p:nvPr/>
        </p:nvSpPr>
        <p:spPr>
          <a:xfrm xmlns:a="http://schemas.openxmlformats.org/drawingml/2006/main">
            <a:off x="838200" y="3952875"/>
            <a:ext cx="1990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Operator releases stock</a:t>
            </a:r>
          </a:p>
        </p:txBody>
      </p:sp>
      <p:sp>
        <p:nvSpPr>
          <p:cNvPr id="8" name="">
            <a:extLst xmlns:a="http://schemas.openxmlformats.org/drawingml/2006/main">
              <a:ext uri="{FF2B5EF4-FFF2-40B4-BE49-F238E27FC236}">
                <a16:creationId xmlns:a16="http://schemas.microsoft.com/office/drawing/2014/main" id="{BDF960AE-51C6-4B2D-A675-E3D625FACCF6}"/>
              </a:ext>
            </a:extLst>
          </p:cNvPr>
          <p:cNvSpPr>
            <a:spLocks xmlns:a="http://schemas.openxmlformats.org/drawingml/2006/main" noGrp="1"/>
          </p:cNvSpPr>
          <p:nvPr/>
        </p:nvSpPr>
        <p:spPr>
          <a:xfrm xmlns:a="http://schemas.openxmlformats.org/drawingml/2006/main">
            <a:off x="3476625" y="3438525"/>
            <a:ext cx="2333625" cy="1009650"/>
          </a:xfrm>
          <a:prstGeom xmlns:a="http://schemas.openxmlformats.org/drawingml/2006/main" prst="rect">
            <a:avLst/>
          </a:prstGeom>
          <a:solidFill xmlns:a="http://schemas.openxmlformats.org/drawingml/2006/main">
            <a:srgbClr val="D4E9A8"/>
          </a:solidFill>
          <a:ln xmlns:a="http://schemas.openxmlformats.org/drawingml/2006/main" w="0">
            <a:noFill/>
          </a:ln>
        </p:spPr>
      </p:sp>
      <p:sp>
        <p:nvSpPr>
          <p:cNvPr id="9" name="Buyer reply">
            <a:extLst xmlns:a="http://schemas.openxmlformats.org/drawingml/2006/main">
              <a:ext uri="{FF2B5EF4-FFF2-40B4-BE49-F238E27FC236}">
                <a16:creationId xmlns:a16="http://schemas.microsoft.com/office/drawing/2014/main" id="{30867709-AA1E-4C50-BE80-AC851B0311E9}"/>
              </a:ext>
            </a:extLst>
          </p:cNvPr>
          <p:cNvSpPr>
            <a:spLocks xmlns:a="http://schemas.openxmlformats.org/drawingml/2006/main" noGrp="1"/>
          </p:cNvSpPr>
          <p:nvPr/>
        </p:nvSpPr>
        <p:spPr>
          <a:xfrm xmlns:a="http://schemas.openxmlformats.org/drawingml/2006/main">
            <a:off x="3648075" y="3581400"/>
            <a:ext cx="1990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C3A"/>
                </a:solidFill>
                <a:latin typeface="Liberation Sans"/>
                <a:ea typeface="Liberation Sans"/>
                <a:cs typeface="Liberation Sans"/>
              </a:defRPr>
            </a:pPr>
            <a:r>
              <a:rPr sz="1875" b="1">
                <a:solidFill>
                  <a:srgbClr val="244C3A"/>
                </a:solidFill>
                <a:latin typeface="Liberation Sans"/>
                <a:ea typeface="Liberation Sans"/>
                <a:cs typeface="Liberation Sans"/>
              </a:rPr>
              <a:t>Buyer reply</a:t>
            </a:r>
          </a:p>
        </p:txBody>
      </p:sp>
      <p:sp>
        <p:nvSpPr>
          <p:cNvPr id="10" name="Agent interprets intent">
            <a:extLst xmlns:a="http://schemas.openxmlformats.org/drawingml/2006/main">
              <a:ext uri="{FF2B5EF4-FFF2-40B4-BE49-F238E27FC236}">
                <a16:creationId xmlns:a16="http://schemas.microsoft.com/office/drawing/2014/main" id="{986F9B18-F0B5-455C-8275-19ADD3D0614A}"/>
              </a:ext>
            </a:extLst>
          </p:cNvPr>
          <p:cNvSpPr>
            <a:spLocks xmlns:a="http://schemas.openxmlformats.org/drawingml/2006/main" noGrp="1"/>
          </p:cNvSpPr>
          <p:nvPr/>
        </p:nvSpPr>
        <p:spPr>
          <a:xfrm xmlns:a="http://schemas.openxmlformats.org/drawingml/2006/main">
            <a:off x="3648075" y="3952875"/>
            <a:ext cx="1990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Agent interprets intent</a:t>
            </a:r>
          </a:p>
        </p:txBody>
      </p:sp>
      <p:sp>
        <p:nvSpPr>
          <p:cNvPr id="11" name="">
            <a:extLst xmlns:a="http://schemas.openxmlformats.org/drawingml/2006/main">
              <a:ext uri="{FF2B5EF4-FFF2-40B4-BE49-F238E27FC236}">
                <a16:creationId xmlns:a16="http://schemas.microsoft.com/office/drawing/2014/main" id="{FFE38DFB-2126-446F-BAFC-7FD1359F0002}"/>
              </a:ext>
            </a:extLst>
          </p:cNvPr>
          <p:cNvSpPr>
            <a:spLocks xmlns:a="http://schemas.openxmlformats.org/drawingml/2006/main" noGrp="1"/>
          </p:cNvSpPr>
          <p:nvPr/>
        </p:nvSpPr>
        <p:spPr>
          <a:xfrm xmlns:a="http://schemas.openxmlformats.org/drawingml/2006/main">
            <a:off x="6286500" y="3438525"/>
            <a:ext cx="2333625" cy="1009650"/>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12" name="Rule checks">
            <a:extLst xmlns:a="http://schemas.openxmlformats.org/drawingml/2006/main">
              <a:ext uri="{FF2B5EF4-FFF2-40B4-BE49-F238E27FC236}">
                <a16:creationId xmlns:a16="http://schemas.microsoft.com/office/drawing/2014/main" id="{8CCB8E90-A70F-4241-AE2E-A8514BFDFAED}"/>
              </a:ext>
            </a:extLst>
          </p:cNvPr>
          <p:cNvSpPr>
            <a:spLocks xmlns:a="http://schemas.openxmlformats.org/drawingml/2006/main" noGrp="1"/>
          </p:cNvSpPr>
          <p:nvPr/>
        </p:nvSpPr>
        <p:spPr>
          <a:xfrm xmlns:a="http://schemas.openxmlformats.org/drawingml/2006/main">
            <a:off x="6457950" y="3581400"/>
            <a:ext cx="1990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C3A"/>
                </a:solidFill>
                <a:latin typeface="Liberation Sans"/>
                <a:ea typeface="Liberation Sans"/>
                <a:cs typeface="Liberation Sans"/>
              </a:defRPr>
            </a:pPr>
            <a:r>
              <a:rPr sz="1875" b="1">
                <a:solidFill>
                  <a:srgbClr val="244C3A"/>
                </a:solidFill>
                <a:latin typeface="Liberation Sans"/>
                <a:ea typeface="Liberation Sans"/>
                <a:cs typeface="Liberation Sans"/>
              </a:rPr>
              <a:t>Rule checks</a:t>
            </a:r>
          </a:p>
        </p:txBody>
      </p:sp>
      <p:sp>
        <p:nvSpPr>
          <p:cNvPr id="13" name="Price, capacity, delivery">
            <a:extLst xmlns:a="http://schemas.openxmlformats.org/drawingml/2006/main">
              <a:ext uri="{FF2B5EF4-FFF2-40B4-BE49-F238E27FC236}">
                <a16:creationId xmlns:a16="http://schemas.microsoft.com/office/drawing/2014/main" id="{7D18A617-439B-4BD7-9804-3DA063808BEB}"/>
              </a:ext>
            </a:extLst>
          </p:cNvPr>
          <p:cNvSpPr>
            <a:spLocks xmlns:a="http://schemas.openxmlformats.org/drawingml/2006/main" noGrp="1"/>
          </p:cNvSpPr>
          <p:nvPr/>
        </p:nvSpPr>
        <p:spPr>
          <a:xfrm xmlns:a="http://schemas.openxmlformats.org/drawingml/2006/main">
            <a:off x="6457950" y="3952875"/>
            <a:ext cx="1990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Price, capacity, delivery</a:t>
            </a:r>
          </a:p>
        </p:txBody>
      </p:sp>
      <p:sp>
        <p:nvSpPr>
          <p:cNvPr id="14" name="">
            <a:extLst xmlns:a="http://schemas.openxmlformats.org/drawingml/2006/main">
              <a:ext uri="{FF2B5EF4-FFF2-40B4-BE49-F238E27FC236}">
                <a16:creationId xmlns:a16="http://schemas.microsoft.com/office/drawing/2014/main" id="{89E93BCC-F827-4A54-884C-23D8AE6D8F0A}"/>
              </a:ext>
            </a:extLst>
          </p:cNvPr>
          <p:cNvSpPr>
            <a:spLocks xmlns:a="http://schemas.openxmlformats.org/drawingml/2006/main" noGrp="1"/>
          </p:cNvSpPr>
          <p:nvPr/>
        </p:nvSpPr>
        <p:spPr>
          <a:xfrm xmlns:a="http://schemas.openxmlformats.org/drawingml/2006/main">
            <a:off x="9096375" y="3438525"/>
            <a:ext cx="2333625" cy="1009650"/>
          </a:xfrm>
          <a:prstGeom xmlns:a="http://schemas.openxmlformats.org/drawingml/2006/main" prst="rect">
            <a:avLst/>
          </a:prstGeom>
          <a:solidFill xmlns:a="http://schemas.openxmlformats.org/drawingml/2006/main">
            <a:srgbClr val="244C3A"/>
          </a:solidFill>
          <a:ln xmlns:a="http://schemas.openxmlformats.org/drawingml/2006/main" w="0">
            <a:noFill/>
          </a:ln>
        </p:spPr>
      </p:sp>
      <p:sp>
        <p:nvSpPr>
          <p:cNvPr id="15" name="Order">
            <a:extLst xmlns:a="http://schemas.openxmlformats.org/drawingml/2006/main">
              <a:ext uri="{FF2B5EF4-FFF2-40B4-BE49-F238E27FC236}">
                <a16:creationId xmlns:a16="http://schemas.microsoft.com/office/drawing/2014/main" id="{B3778B7B-9802-4B65-B517-FEE6CE89F391}"/>
              </a:ext>
            </a:extLst>
          </p:cNvPr>
          <p:cNvSpPr>
            <a:spLocks xmlns:a="http://schemas.openxmlformats.org/drawingml/2006/main" noGrp="1"/>
          </p:cNvSpPr>
          <p:nvPr/>
        </p:nvSpPr>
        <p:spPr>
          <a:xfrm xmlns:a="http://schemas.openxmlformats.org/drawingml/2006/main">
            <a:off x="9267825" y="3581400"/>
            <a:ext cx="1990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Liberation Sans"/>
                <a:ea typeface="Liberation Sans"/>
                <a:cs typeface="Liberation Sans"/>
              </a:defRPr>
            </a:pPr>
            <a:r>
              <a:rPr sz="1875" b="1">
                <a:solidFill>
                  <a:srgbClr val="FFFFFF"/>
                </a:solidFill>
                <a:latin typeface="Liberation Sans"/>
                <a:ea typeface="Liberation Sans"/>
                <a:cs typeface="Liberation Sans"/>
              </a:rPr>
              <a:t>Order</a:t>
            </a:r>
          </a:p>
        </p:txBody>
      </p:sp>
      <p:sp>
        <p:nvSpPr>
          <p:cNvPr id="16" name="Commit available stock">
            <a:extLst xmlns:a="http://schemas.openxmlformats.org/drawingml/2006/main">
              <a:ext uri="{FF2B5EF4-FFF2-40B4-BE49-F238E27FC236}">
                <a16:creationId xmlns:a16="http://schemas.microsoft.com/office/drawing/2014/main" id="{3C5F3016-DD15-4A56-BD8A-39B7E744B1F8}"/>
              </a:ext>
            </a:extLst>
          </p:cNvPr>
          <p:cNvSpPr>
            <a:spLocks xmlns:a="http://schemas.openxmlformats.org/drawingml/2006/main" noGrp="1"/>
          </p:cNvSpPr>
          <p:nvPr/>
        </p:nvSpPr>
        <p:spPr>
          <a:xfrm xmlns:a="http://schemas.openxmlformats.org/drawingml/2006/main">
            <a:off x="9267825" y="3952875"/>
            <a:ext cx="1990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FFFFF"/>
                </a:solidFill>
                <a:latin typeface="Liberation Sans"/>
                <a:ea typeface="Liberation Sans"/>
                <a:cs typeface="Liberation Sans"/>
              </a:defRPr>
            </a:pPr>
            <a:r>
              <a:rPr sz="1425" b="0">
                <a:solidFill>
                  <a:srgbClr val="FFFFFF"/>
                </a:solidFill>
                <a:latin typeface="Liberation Sans"/>
                <a:ea typeface="Liberation Sans"/>
                <a:cs typeface="Liberation Sans"/>
              </a:rPr>
              <a:t>Commit available stock</a:t>
            </a:r>
          </a:p>
        </p:txBody>
      </p:sp>
      <p:cxnSp>
        <p:nvCxnSpPr>
          <p:cNvPr id="38" name=""/>
          <p:cNvCxnSpPr>
            <a:stCxn xmlns:a="http://schemas.openxmlformats.org/drawingml/2006/main" id="5" idx="3"/>
            <a:endCxn xmlns:a="http://schemas.openxmlformats.org/drawingml/2006/main" id="8" idx="1"/>
          </p:cNvCxnSpPr>
          <p:nvPr/>
        </p:nvCxnSpPr>
        <p:spPr>
          <a:xfrm xmlns:a="http://schemas.openxmlformats.org/drawingml/2006/main">
            <a:off x="3000375" y="3943350"/>
            <a:ext cx="476250" cy="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39" name=""/>
          <p:cNvCxnSpPr>
            <a:stCxn xmlns:a="http://schemas.openxmlformats.org/drawingml/2006/main" id="8" idx="3"/>
            <a:endCxn xmlns:a="http://schemas.openxmlformats.org/drawingml/2006/main" id="11" idx="1"/>
          </p:cNvCxnSpPr>
          <p:nvPr/>
        </p:nvCxnSpPr>
        <p:spPr>
          <a:xfrm xmlns:a="http://schemas.openxmlformats.org/drawingml/2006/main">
            <a:off x="5810250" y="3943350"/>
            <a:ext cx="476250" cy="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40" name=""/>
          <p:cNvCxnSpPr>
            <a:stCxn xmlns:a="http://schemas.openxmlformats.org/drawingml/2006/main" id="11" idx="3"/>
            <a:endCxn xmlns:a="http://schemas.openxmlformats.org/drawingml/2006/main" id="14" idx="1"/>
          </p:cNvCxnSpPr>
          <p:nvPr/>
        </p:nvCxnSpPr>
        <p:spPr>
          <a:xfrm xmlns:a="http://schemas.openxmlformats.org/drawingml/2006/main">
            <a:off x="8620125" y="3943350"/>
            <a:ext cx="476250" cy="0"/>
          </a:xfrm>
          <a:prstGeom xmlns:a="http://schemas.openxmlformats.org/drawingml/2006/main" prst="straightConnector1">
            <a:avLst/>
          </a:prstGeom>
          <a:ln xmlns:a="http://schemas.openxmlformats.org/drawingml/2006/main" w="22860">
            <a:solidFill>
              <a:srgbClr val="617065"/>
            </a:solidFill>
            <a:tailEnd type="triangle" w="sm" len="sm"/>
          </a:ln>
        </p:spPr>
      </p:cxnSp>
      <p:sp>
        <p:nvSpPr>
          <p:cNvPr id="20" name="One shared inventory ledger across connected channel">
            <a:extLst xmlns:a="http://schemas.openxmlformats.org/drawingml/2006/main">
              <a:ext uri="{FF2B5EF4-FFF2-40B4-BE49-F238E27FC236}">
                <a16:creationId xmlns:a16="http://schemas.microsoft.com/office/drawing/2014/main" id="{DF662EAB-20AE-4848-9775-4D1086597CE9}"/>
              </a:ext>
            </a:extLst>
          </p:cNvPr>
          <p:cNvSpPr>
            <a:spLocks xmlns:a="http://schemas.openxmlformats.org/drawingml/2006/main" noGrp="1"/>
          </p:cNvSpPr>
          <p:nvPr/>
        </p:nvSpPr>
        <p:spPr>
          <a:xfrm xmlns:a="http://schemas.openxmlformats.org/drawingml/2006/main">
            <a:off x="685800" y="51816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4C3A"/>
                </a:solidFill>
                <a:latin typeface="Liberation Sans"/>
                <a:ea typeface="Liberation Sans"/>
                <a:cs typeface="Liberation Sans"/>
              </a:defRPr>
            </a:pPr>
            <a:r>
              <a:rPr sz="2400" b="1">
                <a:solidFill>
                  <a:srgbClr val="244C3A"/>
                </a:solidFill>
                <a:latin typeface="Liberation Sans"/>
                <a:ea typeface="Liberation Sans"/>
                <a:cs typeface="Liberation Sans"/>
              </a:rPr>
              <a:t>One shared inventory ledger across connected channels</a:t>
            </a:r>
          </a:p>
        </p:txBody>
      </p:sp>
      <p:sp>
        <p:nvSpPr>
          <p:cNvPr id="21" name="WhatsApp, SMS and email adapters. Illustrative workf">
            <a:extLst xmlns:a="http://schemas.openxmlformats.org/drawingml/2006/main">
              <a:ext uri="{FF2B5EF4-FFF2-40B4-BE49-F238E27FC236}">
                <a16:creationId xmlns:a16="http://schemas.microsoft.com/office/drawing/2014/main" id="{AD652112-502D-465B-B2E5-D892FDF64C96}"/>
              </a:ext>
            </a:extLst>
          </p:cNvPr>
          <p:cNvSpPr>
            <a:spLocks xmlns:a="http://schemas.openxmlformats.org/drawingml/2006/main" noGrp="1"/>
          </p:cNvSpPr>
          <p:nvPr/>
        </p:nvSpPr>
        <p:spPr>
          <a:xfrm xmlns:a="http://schemas.openxmlformats.org/drawingml/2006/main">
            <a:off x="685800" y="58483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065"/>
                </a:solidFill>
                <a:latin typeface="Liberation Sans"/>
                <a:ea typeface="Liberation Sans"/>
                <a:cs typeface="Liberation Sans"/>
              </a:defRPr>
            </a:pPr>
            <a:r>
              <a:rPr sz="1350" b="0">
                <a:solidFill>
                  <a:srgbClr val="617065"/>
                </a:solidFill>
                <a:latin typeface="Liberation Sans"/>
                <a:ea typeface="Liberation Sans"/>
                <a:cs typeface="Liberation Sans"/>
              </a:rPr>
              <a:t>WhatsApp, SMS and email adapters. Illustrative workflow. Live provider validation pending.</a:t>
            </a:r>
          </a:p>
        </p:txBody>
      </p:sp>
    </p:spTree>
    <p:extLst>
      <p:ext uri="{BB962C8B-B14F-4D97-AF65-F5344CB8AC3E}">
        <p14:creationId xmlns:p14="http://schemas.microsoft.com/office/powerpoint/2010/main" val="634326291"/>
      </p:ext>
    </p:extLst>
  </p:cSld>
</p:sld>
</file>

<file path=ppt/slides/slide4.xml><?xml version="1.0" encoding="utf-8"?>
<p:sld xmlns:p="http://schemas.openxmlformats.org/presentationml/2006/main">
  <p:cSld>
    <p:bg>
      <p:bgPr>
        <a:solidFill xmlns:a="http://schemas.openxmlformats.org/drawingml/2006/main">
          <a:srgbClr val="244C3A"/>
        </a:solidFill>
      </p:bgPr>
    </p:bg>
    <p:spTree>
      <p:nvGrpSpPr>
        <p:cNvPr id="1" name=""/>
        <p:cNvGrpSpPr/>
        <p:nvPr/>
      </p:nvGrpSpPr>
      <p:grpSpPr>
        <a:xfrm xmlns:a="http://schemas.openxmlformats.org/drawingml/2006/main"/>
      </p:grpSpPr>
      <p:sp>
        <p:nvSpPr>
          <p:cNvPr id="17" name="Two buyers can claim the final eight">
            <a:extLst xmlns:a="http://schemas.openxmlformats.org/drawingml/2006/main">
              <a:ext uri="{FF2B5EF4-FFF2-40B4-BE49-F238E27FC236}">
                <a16:creationId xmlns:a16="http://schemas.microsoft.com/office/drawing/2014/main" id="{DCF93E55-9F7F-4045-A140-D273200053E1}"/>
              </a:ext>
            </a:extLst>
          </p:cNvPr>
          <p:cNvSpPr>
            <a:spLocks xmlns:a="http://schemas.openxmlformats.org/drawingml/2006/main" noGrp="1"/>
          </p:cNvSpPr>
          <p:nvPr/>
        </p:nvSpPr>
        <p:spPr>
          <a:xfrm xmlns:a="http://schemas.openxmlformats.org/drawingml/2006/main">
            <a:off x="609600" y="5334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7F8F5"/>
                </a:solidFill>
                <a:latin typeface="Liberation Sans"/>
                <a:ea typeface="Liberation Sans"/>
                <a:cs typeface="Liberation Sans"/>
              </a:defRPr>
            </a:pPr>
            <a:r>
              <a:rPr sz="4050" b="1">
                <a:solidFill>
                  <a:srgbClr val="F7F8F5"/>
                </a:solidFill>
                <a:latin typeface="Liberation Sans"/>
                <a:ea typeface="Liberation Sans"/>
                <a:cs typeface="Liberation Sans"/>
              </a:rPr>
              <a:t>Two buyers can claim the final eight</a:t>
            </a:r>
          </a:p>
        </p:txBody>
      </p:sp>
      <p:sp>
        <p:nvSpPr>
          <p:cNvPr id="2" name="SECONDCRATE">
            <a:extLst xmlns:a="http://schemas.openxmlformats.org/drawingml/2006/main">
              <a:ext uri="{FF2B5EF4-FFF2-40B4-BE49-F238E27FC236}">
                <a16:creationId xmlns:a16="http://schemas.microsoft.com/office/drawing/2014/main" id="{B05CAB2A-017A-4E9E-843B-4D2179BF27A4}"/>
              </a:ext>
            </a:extLst>
          </p:cNvPr>
          <p:cNvSpPr>
            <a:spLocks xmlns:a="http://schemas.openxmlformats.org/drawingml/2006/main" noGrp="1"/>
          </p:cNvSpPr>
          <p:nvPr/>
        </p:nvSpPr>
        <p:spPr>
          <a:xfrm xmlns:a="http://schemas.openxmlformats.org/drawingml/2006/main">
            <a:off x="609600" y="64198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4E9A8"/>
                </a:solidFill>
                <a:latin typeface="Liberation Sans"/>
                <a:ea typeface="Liberation Sans"/>
                <a:cs typeface="Liberation Sans"/>
              </a:defRPr>
            </a:pPr>
            <a:r>
              <a:rPr sz="1125" b="1">
                <a:solidFill>
                  <a:srgbClr val="D4E9A8"/>
                </a:solidFill>
                <a:latin typeface="Liberation Sans"/>
                <a:ea typeface="Liberation Sans"/>
                <a:cs typeface="Liberation Sans"/>
              </a:rPr>
              <a:t>SECONDCRATE</a:t>
            </a:r>
          </a:p>
        </p:txBody>
      </p:sp>
      <p:sp>
        <p:nvSpPr>
          <p:cNvPr id="3" name="04">
            <a:extLst xmlns:a="http://schemas.openxmlformats.org/drawingml/2006/main">
              <a:ext uri="{FF2B5EF4-FFF2-40B4-BE49-F238E27FC236}">
                <a16:creationId xmlns:a16="http://schemas.microsoft.com/office/drawing/2014/main" id="{60A20E17-E4E8-4BFC-BFD4-E0EC1F893A68}"/>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E9A8"/>
                </a:solidFill>
                <a:latin typeface="Liberation Sans"/>
                <a:ea typeface="Liberation Sans"/>
                <a:cs typeface="Liberation Sans"/>
              </a:defRPr>
            </a:pPr>
            <a:r>
              <a:rPr sz="1125" b="0">
                <a:solidFill>
                  <a:srgbClr val="D4E9A8"/>
                </a:solidFill>
                <a:latin typeface="Liberation Sans"/>
                <a:ea typeface="Liberation Sans"/>
                <a:cs typeface="Liberation Sans"/>
              </a:rPr>
              <a:t>04</a:t>
            </a:r>
          </a:p>
        </p:txBody>
      </p:sp>
      <p:sp>
        <p:nvSpPr>
          <p:cNvPr id="4" name="8">
            <a:extLst xmlns:a="http://schemas.openxmlformats.org/drawingml/2006/main">
              <a:ext uri="{FF2B5EF4-FFF2-40B4-BE49-F238E27FC236}">
                <a16:creationId xmlns:a16="http://schemas.microsoft.com/office/drawing/2014/main" id="{9987C474-95CC-4079-B7DC-EF20F1A6230F}"/>
              </a:ext>
            </a:extLst>
          </p:cNvPr>
          <p:cNvSpPr>
            <a:spLocks xmlns:a="http://schemas.openxmlformats.org/drawingml/2006/main" noGrp="1"/>
          </p:cNvSpPr>
          <p:nvPr/>
        </p:nvSpPr>
        <p:spPr>
          <a:xfrm xmlns:a="http://schemas.openxmlformats.org/drawingml/2006/main">
            <a:off x="647700" y="1685925"/>
            <a:ext cx="31242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050" b="1">
                <a:solidFill>
                  <a:srgbClr val="D4E9A8"/>
                </a:solidFill>
                <a:latin typeface="Liberation Sans"/>
                <a:ea typeface="Liberation Sans"/>
                <a:cs typeface="Liberation Sans"/>
              </a:defRPr>
            </a:pPr>
            <a:r>
              <a:rPr sz="13050" b="1">
                <a:solidFill>
                  <a:srgbClr val="D4E9A8"/>
                </a:solidFill>
                <a:latin typeface="Liberation Sans"/>
                <a:ea typeface="Liberation Sans"/>
                <a:cs typeface="Liberation Sans"/>
              </a:rPr>
              <a:t>8</a:t>
            </a:r>
          </a:p>
        </p:txBody>
      </p:sp>
      <p:sp>
        <p:nvSpPr>
          <p:cNvPr id="5" name="crates remain">
            <a:extLst xmlns:a="http://schemas.openxmlformats.org/drawingml/2006/main">
              <a:ext uri="{FF2B5EF4-FFF2-40B4-BE49-F238E27FC236}">
                <a16:creationId xmlns:a16="http://schemas.microsoft.com/office/drawing/2014/main" id="{DA252ADA-81C2-4DFF-8449-EBC4B24D4561}"/>
              </a:ext>
            </a:extLst>
          </p:cNvPr>
          <p:cNvSpPr>
            <a:spLocks xmlns:a="http://schemas.openxmlformats.org/drawingml/2006/main" noGrp="1"/>
          </p:cNvSpPr>
          <p:nvPr/>
        </p:nvSpPr>
        <p:spPr>
          <a:xfrm xmlns:a="http://schemas.openxmlformats.org/drawingml/2006/main">
            <a:off x="752475" y="3790950"/>
            <a:ext cx="342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7F8F5"/>
                </a:solidFill>
                <a:latin typeface="Liberation Sans"/>
                <a:ea typeface="Liberation Sans"/>
                <a:cs typeface="Liberation Sans"/>
              </a:defRPr>
            </a:pPr>
            <a:r>
              <a:rPr sz="2625" b="1">
                <a:solidFill>
                  <a:srgbClr val="F7F8F5"/>
                </a:solidFill>
                <a:latin typeface="Liberation Sans"/>
                <a:ea typeface="Liberation Sans"/>
                <a:cs typeface="Liberation Sans"/>
              </a:rPr>
              <a:t>crates remain</a:t>
            </a:r>
          </a:p>
        </p:txBody>
      </p:sp>
      <p:sp>
        <p:nvSpPr>
          <p:cNvPr id="6" name="">
            <a:extLst xmlns:a="http://schemas.openxmlformats.org/drawingml/2006/main">
              <a:ext uri="{FF2B5EF4-FFF2-40B4-BE49-F238E27FC236}">
                <a16:creationId xmlns:a16="http://schemas.microsoft.com/office/drawing/2014/main" id="{086373D0-55D1-47E1-814B-27D23EC6D8C7}"/>
              </a:ext>
            </a:extLst>
          </p:cNvPr>
          <p:cNvSpPr>
            <a:spLocks xmlns:a="http://schemas.openxmlformats.org/drawingml/2006/main" noGrp="1"/>
          </p:cNvSpPr>
          <p:nvPr/>
        </p:nvSpPr>
        <p:spPr>
          <a:xfrm xmlns:a="http://schemas.openxmlformats.org/drawingml/2006/main">
            <a:off x="5038725" y="2028825"/>
            <a:ext cx="2771775" cy="876300"/>
          </a:xfrm>
          <a:prstGeom xmlns:a="http://schemas.openxmlformats.org/drawingml/2006/main" prst="rect">
            <a:avLst/>
          </a:prstGeom>
          <a:solidFill xmlns:a="http://schemas.openxmlformats.org/drawingml/2006/main">
            <a:srgbClr val="F7F8F5"/>
          </a:solidFill>
          <a:ln xmlns:a="http://schemas.openxmlformats.org/drawingml/2006/main" w="0">
            <a:noFill/>
          </a:ln>
        </p:spPr>
      </p:sp>
      <p:sp>
        <p:nvSpPr>
          <p:cNvPr id="7" name="Leila requests 8">
            <a:extLst xmlns:a="http://schemas.openxmlformats.org/drawingml/2006/main">
              <a:ext uri="{FF2B5EF4-FFF2-40B4-BE49-F238E27FC236}">
                <a16:creationId xmlns:a16="http://schemas.microsoft.com/office/drawing/2014/main" id="{CBE67084-8356-41D8-BFE6-24EBEC0D82CC}"/>
              </a:ext>
            </a:extLst>
          </p:cNvPr>
          <p:cNvSpPr>
            <a:spLocks xmlns:a="http://schemas.openxmlformats.org/drawingml/2006/main" noGrp="1"/>
          </p:cNvSpPr>
          <p:nvPr/>
        </p:nvSpPr>
        <p:spPr>
          <a:xfrm xmlns:a="http://schemas.openxmlformats.org/drawingml/2006/main">
            <a:off x="5210175" y="217170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C3A"/>
                </a:solidFill>
                <a:latin typeface="Liberation Sans"/>
                <a:ea typeface="Liberation Sans"/>
                <a:cs typeface="Liberation Sans"/>
              </a:defRPr>
            </a:pPr>
            <a:r>
              <a:rPr sz="1950" b="1">
                <a:solidFill>
                  <a:srgbClr val="244C3A"/>
                </a:solidFill>
                <a:latin typeface="Liberation Sans"/>
                <a:ea typeface="Liberation Sans"/>
                <a:cs typeface="Liberation Sans"/>
              </a:rPr>
              <a:t>Leila requests 8</a:t>
            </a:r>
          </a:p>
        </p:txBody>
      </p:sp>
      <p:sp>
        <p:nvSpPr>
          <p:cNvPr id="8" name="">
            <a:extLst xmlns:a="http://schemas.openxmlformats.org/drawingml/2006/main">
              <a:ext uri="{FF2B5EF4-FFF2-40B4-BE49-F238E27FC236}">
                <a16:creationId xmlns:a16="http://schemas.microsoft.com/office/drawing/2014/main" id="{C38277EE-26AA-4D0E-8783-D4AD59146C57}"/>
              </a:ext>
            </a:extLst>
          </p:cNvPr>
          <p:cNvSpPr>
            <a:spLocks xmlns:a="http://schemas.openxmlformats.org/drawingml/2006/main" noGrp="1"/>
          </p:cNvSpPr>
          <p:nvPr/>
        </p:nvSpPr>
        <p:spPr>
          <a:xfrm xmlns:a="http://schemas.openxmlformats.org/drawingml/2006/main">
            <a:off x="5038725" y="3381375"/>
            <a:ext cx="2771775" cy="876300"/>
          </a:xfrm>
          <a:prstGeom xmlns:a="http://schemas.openxmlformats.org/drawingml/2006/main" prst="rect">
            <a:avLst/>
          </a:prstGeom>
          <a:solidFill xmlns:a="http://schemas.openxmlformats.org/drawingml/2006/main">
            <a:srgbClr val="F7F8F5"/>
          </a:solidFill>
          <a:ln xmlns:a="http://schemas.openxmlformats.org/drawingml/2006/main" w="0">
            <a:noFill/>
          </a:ln>
        </p:spPr>
      </p:sp>
      <p:sp>
        <p:nvSpPr>
          <p:cNvPr id="9" name="Priya requests 8">
            <a:extLst xmlns:a="http://schemas.openxmlformats.org/drawingml/2006/main">
              <a:ext uri="{FF2B5EF4-FFF2-40B4-BE49-F238E27FC236}">
                <a16:creationId xmlns:a16="http://schemas.microsoft.com/office/drawing/2014/main" id="{D6665776-79AF-4C4C-8A63-945967794C33}"/>
              </a:ext>
            </a:extLst>
          </p:cNvPr>
          <p:cNvSpPr>
            <a:spLocks xmlns:a="http://schemas.openxmlformats.org/drawingml/2006/main" noGrp="1"/>
          </p:cNvSpPr>
          <p:nvPr/>
        </p:nvSpPr>
        <p:spPr>
          <a:xfrm xmlns:a="http://schemas.openxmlformats.org/drawingml/2006/main">
            <a:off x="5210175" y="352425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C3A"/>
                </a:solidFill>
                <a:latin typeface="Liberation Sans"/>
                <a:ea typeface="Liberation Sans"/>
                <a:cs typeface="Liberation Sans"/>
              </a:defRPr>
            </a:pPr>
            <a:r>
              <a:rPr sz="1950" b="1">
                <a:solidFill>
                  <a:srgbClr val="244C3A"/>
                </a:solidFill>
                <a:latin typeface="Liberation Sans"/>
                <a:ea typeface="Liberation Sans"/>
                <a:cs typeface="Liberation Sans"/>
              </a:rPr>
              <a:t>Priya requests 8</a:t>
            </a:r>
          </a:p>
        </p:txBody>
      </p:sp>
      <p:sp>
        <p:nvSpPr>
          <p:cNvPr id="10" name="">
            <a:extLst xmlns:a="http://schemas.openxmlformats.org/drawingml/2006/main">
              <a:ext uri="{FF2B5EF4-FFF2-40B4-BE49-F238E27FC236}">
                <a16:creationId xmlns:a16="http://schemas.microsoft.com/office/drawing/2014/main" id="{E5A84AAF-037B-4ACF-B9D3-2F14D935114D}"/>
              </a:ext>
            </a:extLst>
          </p:cNvPr>
          <p:cNvSpPr>
            <a:spLocks xmlns:a="http://schemas.openxmlformats.org/drawingml/2006/main" noGrp="1"/>
          </p:cNvSpPr>
          <p:nvPr/>
        </p:nvSpPr>
        <p:spPr>
          <a:xfrm xmlns:a="http://schemas.openxmlformats.org/drawingml/2006/main">
            <a:off x="8934450" y="2638425"/>
            <a:ext cx="2581275" cy="1076325"/>
          </a:xfrm>
          <a:prstGeom xmlns:a="http://schemas.openxmlformats.org/drawingml/2006/main" prst="rect">
            <a:avLst/>
          </a:prstGeom>
          <a:solidFill xmlns:a="http://schemas.openxmlformats.org/drawingml/2006/main">
            <a:srgbClr val="D4E9A8"/>
          </a:solidFill>
          <a:ln xmlns:a="http://schemas.openxmlformats.org/drawingml/2006/main" w="0">
            <a:noFill/>
          </a:ln>
        </p:spPr>
      </p:sp>
      <p:sp>
        <p:nvSpPr>
          <p:cNvPr id="11" name="One order">
            <a:extLst xmlns:a="http://schemas.openxmlformats.org/drawingml/2006/main">
              <a:ext uri="{FF2B5EF4-FFF2-40B4-BE49-F238E27FC236}">
                <a16:creationId xmlns:a16="http://schemas.microsoft.com/office/drawing/2014/main" id="{17D249DB-D2A0-4EB7-845A-67C1A6D71BF2}"/>
              </a:ext>
            </a:extLst>
          </p:cNvPr>
          <p:cNvSpPr>
            <a:spLocks xmlns:a="http://schemas.openxmlformats.org/drawingml/2006/main" noGrp="1"/>
          </p:cNvSpPr>
          <p:nvPr/>
        </p:nvSpPr>
        <p:spPr>
          <a:xfrm xmlns:a="http://schemas.openxmlformats.org/drawingml/2006/main">
            <a:off x="9105900" y="278130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4C3A"/>
                </a:solidFill>
                <a:latin typeface="Liberation Sans"/>
                <a:ea typeface="Liberation Sans"/>
                <a:cs typeface="Liberation Sans"/>
              </a:defRPr>
            </a:pPr>
            <a:r>
              <a:rPr sz="2325" b="1">
                <a:solidFill>
                  <a:srgbClr val="244C3A"/>
                </a:solidFill>
                <a:latin typeface="Liberation Sans"/>
                <a:ea typeface="Liberation Sans"/>
                <a:cs typeface="Liberation Sans"/>
              </a:rPr>
              <a:t>One order</a:t>
            </a:r>
          </a:p>
        </p:txBody>
      </p:sp>
      <p:sp>
        <p:nvSpPr>
          <p:cNvPr id="12" name="The other claim sees 0">
            <a:extLst xmlns:a="http://schemas.openxmlformats.org/drawingml/2006/main">
              <a:ext uri="{FF2B5EF4-FFF2-40B4-BE49-F238E27FC236}">
                <a16:creationId xmlns:a16="http://schemas.microsoft.com/office/drawing/2014/main" id="{DFC2E8A4-96C6-406C-B872-0D786D41B379}"/>
              </a:ext>
            </a:extLst>
          </p:cNvPr>
          <p:cNvSpPr>
            <a:spLocks xmlns:a="http://schemas.openxmlformats.org/drawingml/2006/main" noGrp="1"/>
          </p:cNvSpPr>
          <p:nvPr/>
        </p:nvSpPr>
        <p:spPr>
          <a:xfrm xmlns:a="http://schemas.openxmlformats.org/drawingml/2006/main">
            <a:off x="9105900" y="3152775"/>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The other claim sees 0</a:t>
            </a:r>
          </a:p>
        </p:txBody>
      </p:sp>
      <p:cxnSp>
        <p:nvCxnSpPr>
          <p:cNvPr id="29" name=""/>
          <p:cNvCxnSpPr>
            <a:stCxn xmlns:a="http://schemas.openxmlformats.org/drawingml/2006/main" id="6" idx="3"/>
            <a:endCxn xmlns:a="http://schemas.openxmlformats.org/drawingml/2006/main" id="10" idx="1"/>
          </p:cNvCxnSpPr>
          <p:nvPr/>
        </p:nvCxnSpPr>
        <p:spPr>
          <a:xfrm xmlns:a="http://schemas.openxmlformats.org/drawingml/2006/main">
            <a:off x="7810500" y="2466975"/>
            <a:ext cx="1123950" cy="709613"/>
          </a:xfrm>
          <a:prstGeom xmlns:a="http://schemas.openxmlformats.org/drawingml/2006/main" prst="bentConnector3">
            <a:avLst>
              <a:gd name="adj1" fmla="val 50000"/>
            </a:avLst>
          </a:prstGeom>
          <a:ln xmlns:a="http://schemas.openxmlformats.org/drawingml/2006/main" w="22860">
            <a:solidFill>
              <a:srgbClr val="617065"/>
            </a:solidFill>
            <a:tailEnd type="triangle" w="sm" len="sm"/>
          </a:ln>
        </p:spPr>
      </p:cxnSp>
      <p:cxnSp>
        <p:nvCxnSpPr>
          <p:cNvPr id="30" name=""/>
          <p:cNvCxnSpPr>
            <a:stCxn xmlns:a="http://schemas.openxmlformats.org/drawingml/2006/main" id="8" idx="3"/>
            <a:endCxn xmlns:a="http://schemas.openxmlformats.org/drawingml/2006/main" id="10" idx="1"/>
          </p:cNvCxnSpPr>
          <p:nvPr/>
        </p:nvCxnSpPr>
        <p:spPr>
          <a:xfrm xmlns:a="http://schemas.openxmlformats.org/drawingml/2006/main" flipV="1">
            <a:off x="7810500" y="3176588"/>
            <a:ext cx="1123950" cy="642938"/>
          </a:xfrm>
          <a:prstGeom xmlns:a="http://schemas.openxmlformats.org/drawingml/2006/main" prst="bentConnector3">
            <a:avLst>
              <a:gd name="adj1" fmla="val 50000"/>
            </a:avLst>
          </a:prstGeom>
          <a:ln xmlns:a="http://schemas.openxmlformats.org/drawingml/2006/main" w="22860">
            <a:solidFill>
              <a:srgbClr val="617065"/>
            </a:solidFill>
            <a:tailEnd type="triangle" w="sm" len="sm"/>
          </a:ln>
        </p:spPr>
      </p:cxnSp>
      <p:sp>
        <p:nvSpPr>
          <p:cNvPr id="15" name="Conditional state update">
            <a:extLst xmlns:a="http://schemas.openxmlformats.org/drawingml/2006/main">
              <a:ext uri="{FF2B5EF4-FFF2-40B4-BE49-F238E27FC236}">
                <a16:creationId xmlns:a16="http://schemas.microsoft.com/office/drawing/2014/main" id="{D577919E-2451-4105-A541-514AC2417512}"/>
              </a:ext>
            </a:extLst>
          </p:cNvPr>
          <p:cNvSpPr>
            <a:spLocks xmlns:a="http://schemas.openxmlformats.org/drawingml/2006/main" noGrp="1"/>
          </p:cNvSpPr>
          <p:nvPr/>
        </p:nvSpPr>
        <p:spPr>
          <a:xfrm xmlns:a="http://schemas.openxmlformats.org/drawingml/2006/main">
            <a:off x="5086350" y="4562475"/>
            <a:ext cx="6324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D4E9A8"/>
                </a:solidFill>
                <a:latin typeface="Liberation Sans"/>
                <a:ea typeface="Liberation Sans"/>
                <a:cs typeface="Liberation Sans"/>
              </a:defRPr>
            </a:pPr>
            <a:r>
              <a:rPr sz="2250" b="1">
                <a:solidFill>
                  <a:srgbClr val="D4E9A8"/>
                </a:solidFill>
                <a:latin typeface="Liberation Sans"/>
                <a:ea typeface="Liberation Sans"/>
                <a:cs typeface="Liberation Sans"/>
              </a:rPr>
              <a:t>Conditional state update</a:t>
            </a:r>
          </a:p>
        </p:txBody>
      </p:sp>
      <p:sp>
        <p:nvSpPr>
          <p:cNvPr id="16" name="Version checks and event IDs protect stock&#10;when repl">
            <a:extLst xmlns:a="http://schemas.openxmlformats.org/drawingml/2006/main">
              <a:ext uri="{FF2B5EF4-FFF2-40B4-BE49-F238E27FC236}">
                <a16:creationId xmlns:a16="http://schemas.microsoft.com/office/drawing/2014/main" id="{F4DDEABC-6FD6-4510-B3AC-F04C29DF94C0}"/>
              </a:ext>
            </a:extLst>
          </p:cNvPr>
          <p:cNvSpPr>
            <a:spLocks xmlns:a="http://schemas.openxmlformats.org/drawingml/2006/main" noGrp="1"/>
          </p:cNvSpPr>
          <p:nvPr/>
        </p:nvSpPr>
        <p:spPr>
          <a:xfrm xmlns:a="http://schemas.openxmlformats.org/drawingml/2006/main">
            <a:off x="5086350" y="5095875"/>
            <a:ext cx="64484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7F8F5"/>
                </a:solidFill>
                <a:latin typeface="Liberation Sans"/>
                <a:ea typeface="Liberation Sans"/>
                <a:cs typeface="Liberation Sans"/>
              </a:defRPr>
            </a:pPr>
            <a:r>
              <a:rPr sz="2025" b="0">
                <a:solidFill>
                  <a:srgbClr val="F7F8F5"/>
                </a:solidFill>
                <a:latin typeface="Liberation Sans"/>
                <a:ea typeface="Liberation Sans"/>
                <a:cs typeface="Liberation Sans"/>
              </a:rPr>
              <a:t>Version checks and event IDs protect stock</a:t>
            </a:r>
          </a:p>
          <a:p xmlns:a="http://schemas.openxmlformats.org/drawingml/2006/main">
            <a:pPr>
              <a:defRPr sz="2025" b="0">
                <a:solidFill>
                  <a:srgbClr val="F7F8F5"/>
                </a:solidFill>
                <a:latin typeface="Liberation Sans"/>
                <a:ea typeface="Liberation Sans"/>
                <a:cs typeface="Liberation Sans"/>
              </a:defRPr>
            </a:pPr>
            <a:r>
              <a:rPr sz="2025" b="0">
                <a:solidFill>
                  <a:srgbClr val="F7F8F5"/>
                </a:solidFill>
                <a:latin typeface="Liberation Sans"/>
                <a:ea typeface="Liberation Sans"/>
                <a:cs typeface="Liberation Sans"/>
              </a:rPr>
              <a:t>when replies race or providers retry.</a:t>
            </a:r>
          </a:p>
        </p:txBody>
      </p:sp>
    </p:spTree>
    <p:extLst>
      <p:ext uri="{BB962C8B-B14F-4D97-AF65-F5344CB8AC3E}">
        <p14:creationId xmlns:p14="http://schemas.microsoft.com/office/powerpoint/2010/main" val="77675840"/>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38" name="Deployable AWS architecture">
            <a:extLst xmlns:a="http://schemas.openxmlformats.org/drawingml/2006/main">
              <a:ext uri="{FF2B5EF4-FFF2-40B4-BE49-F238E27FC236}">
                <a16:creationId xmlns:a16="http://schemas.microsoft.com/office/drawing/2014/main" id="{84703E2E-408C-4127-8344-61487684FE90}"/>
              </a:ext>
            </a:extLst>
          </p:cNvPr>
          <p:cNvSpPr>
            <a:spLocks xmlns:a="http://schemas.openxmlformats.org/drawingml/2006/main" noGrp="1"/>
          </p:cNvSpPr>
          <p:nvPr/>
        </p:nvSpPr>
        <p:spPr>
          <a:xfrm xmlns:a="http://schemas.openxmlformats.org/drawingml/2006/main">
            <a:off x="609600" y="5334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4C3A"/>
                </a:solidFill>
                <a:latin typeface="Liberation Sans"/>
                <a:ea typeface="Liberation Sans"/>
                <a:cs typeface="Liberation Sans"/>
              </a:defRPr>
            </a:pPr>
            <a:r>
              <a:rPr sz="4050" b="1">
                <a:solidFill>
                  <a:srgbClr val="244C3A"/>
                </a:solidFill>
                <a:latin typeface="Liberation Sans"/>
                <a:ea typeface="Liberation Sans"/>
                <a:cs typeface="Liberation Sans"/>
              </a:rPr>
              <a:t>Deployable AWS architecture</a:t>
            </a:r>
          </a:p>
        </p:txBody>
      </p:sp>
      <p:sp>
        <p:nvSpPr>
          <p:cNvPr id="2" name="SECONDCRATE">
            <a:extLst xmlns:a="http://schemas.openxmlformats.org/drawingml/2006/main">
              <a:ext uri="{FF2B5EF4-FFF2-40B4-BE49-F238E27FC236}">
                <a16:creationId xmlns:a16="http://schemas.microsoft.com/office/drawing/2014/main" id="{20E72B60-3CCB-429C-99D6-FED63DB1E7DF}"/>
              </a:ext>
            </a:extLst>
          </p:cNvPr>
          <p:cNvSpPr>
            <a:spLocks xmlns:a="http://schemas.openxmlformats.org/drawingml/2006/main" noGrp="1"/>
          </p:cNvSpPr>
          <p:nvPr/>
        </p:nvSpPr>
        <p:spPr>
          <a:xfrm xmlns:a="http://schemas.openxmlformats.org/drawingml/2006/main">
            <a:off x="609600" y="64198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17065"/>
                </a:solidFill>
                <a:latin typeface="Liberation Sans"/>
                <a:ea typeface="Liberation Sans"/>
                <a:cs typeface="Liberation Sans"/>
              </a:defRPr>
            </a:pPr>
            <a:r>
              <a:rPr sz="1125" b="1">
                <a:solidFill>
                  <a:srgbClr val="617065"/>
                </a:solidFill>
                <a:latin typeface="Liberation Sans"/>
                <a:ea typeface="Liberation Sans"/>
                <a:cs typeface="Liberation Sans"/>
              </a:rPr>
              <a:t>SECONDCRATE</a:t>
            </a:r>
          </a:p>
        </p:txBody>
      </p:sp>
      <p:sp>
        <p:nvSpPr>
          <p:cNvPr id="3" name="05">
            <a:extLst xmlns:a="http://schemas.openxmlformats.org/drawingml/2006/main">
              <a:ext uri="{FF2B5EF4-FFF2-40B4-BE49-F238E27FC236}">
                <a16:creationId xmlns:a16="http://schemas.microsoft.com/office/drawing/2014/main" id="{9E6F811B-64A9-4EBB-B97F-E1462662CE10}"/>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17065"/>
                </a:solidFill>
                <a:latin typeface="Liberation Sans"/>
                <a:ea typeface="Liberation Sans"/>
                <a:cs typeface="Liberation Sans"/>
              </a:defRPr>
            </a:pPr>
            <a:r>
              <a:rPr sz="1125" b="0">
                <a:solidFill>
                  <a:srgbClr val="617065"/>
                </a:solidFill>
                <a:latin typeface="Liberation Sans"/>
                <a:ea typeface="Liberation Sans"/>
                <a:cs typeface="Liberation Sans"/>
              </a:rPr>
              <a:t>05</a:t>
            </a:r>
          </a:p>
        </p:txBody>
      </p:sp>
      <p:sp>
        <p:nvSpPr>
          <p:cNvPr id="4" name="">
            <a:extLst xmlns:a="http://schemas.openxmlformats.org/drawingml/2006/main">
              <a:ext uri="{FF2B5EF4-FFF2-40B4-BE49-F238E27FC236}">
                <a16:creationId xmlns:a16="http://schemas.microsoft.com/office/drawing/2014/main" id="{57F2AA09-F51D-4423-B4A2-CBCB459BB878}"/>
              </a:ext>
            </a:extLst>
          </p:cNvPr>
          <p:cNvSpPr>
            <a:spLocks xmlns:a="http://schemas.openxmlformats.org/drawingml/2006/main" noGrp="1"/>
          </p:cNvSpPr>
          <p:nvPr/>
        </p:nvSpPr>
        <p:spPr>
          <a:xfrm xmlns:a="http://schemas.openxmlformats.org/drawingml/2006/main">
            <a:off x="609600" y="2952750"/>
            <a:ext cx="1828800" cy="914400"/>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5" name="Browser">
            <a:extLst xmlns:a="http://schemas.openxmlformats.org/drawingml/2006/main">
              <a:ext uri="{FF2B5EF4-FFF2-40B4-BE49-F238E27FC236}">
                <a16:creationId xmlns:a16="http://schemas.microsoft.com/office/drawing/2014/main" id="{2FCFDE1D-B7BE-4565-B52A-B4A9E4380D20}"/>
              </a:ext>
            </a:extLst>
          </p:cNvPr>
          <p:cNvSpPr>
            <a:spLocks xmlns:a="http://schemas.openxmlformats.org/drawingml/2006/main" noGrp="1"/>
          </p:cNvSpPr>
          <p:nvPr/>
        </p:nvSpPr>
        <p:spPr>
          <a:xfrm xmlns:a="http://schemas.openxmlformats.org/drawingml/2006/main">
            <a:off x="781050" y="30956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C3A"/>
                </a:solidFill>
                <a:latin typeface="Liberation Sans"/>
                <a:ea typeface="Liberation Sans"/>
                <a:cs typeface="Liberation Sans"/>
              </a:defRPr>
            </a:pPr>
            <a:r>
              <a:rPr sz="1800" b="1">
                <a:solidFill>
                  <a:srgbClr val="244C3A"/>
                </a:solidFill>
                <a:latin typeface="Liberation Sans"/>
                <a:ea typeface="Liberation Sans"/>
                <a:cs typeface="Liberation Sans"/>
              </a:rPr>
              <a:t>Browser</a:t>
            </a:r>
          </a:p>
        </p:txBody>
      </p:sp>
      <p:sp>
        <p:nvSpPr>
          <p:cNvPr id="6" name="Session cookie">
            <a:extLst xmlns:a="http://schemas.openxmlformats.org/drawingml/2006/main">
              <a:ext uri="{FF2B5EF4-FFF2-40B4-BE49-F238E27FC236}">
                <a16:creationId xmlns:a16="http://schemas.microsoft.com/office/drawing/2014/main" id="{5DC9E75A-54F7-4FE0-B2E9-D7409B7B8CD0}"/>
              </a:ext>
            </a:extLst>
          </p:cNvPr>
          <p:cNvSpPr>
            <a:spLocks xmlns:a="http://schemas.openxmlformats.org/drawingml/2006/main" noGrp="1"/>
          </p:cNvSpPr>
          <p:nvPr/>
        </p:nvSpPr>
        <p:spPr>
          <a:xfrm xmlns:a="http://schemas.openxmlformats.org/drawingml/2006/main">
            <a:off x="781050" y="34671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Session cookie</a:t>
            </a:r>
          </a:p>
        </p:txBody>
      </p:sp>
      <p:sp>
        <p:nvSpPr>
          <p:cNvPr id="7" name="">
            <a:extLst xmlns:a="http://schemas.openxmlformats.org/drawingml/2006/main">
              <a:ext uri="{FF2B5EF4-FFF2-40B4-BE49-F238E27FC236}">
                <a16:creationId xmlns:a16="http://schemas.microsoft.com/office/drawing/2014/main" id="{B67A515A-3AA6-47B7-9530-B6214C4B8782}"/>
              </a:ext>
            </a:extLst>
          </p:cNvPr>
          <p:cNvSpPr>
            <a:spLocks xmlns:a="http://schemas.openxmlformats.org/drawingml/2006/main" noGrp="1"/>
          </p:cNvSpPr>
          <p:nvPr/>
        </p:nvSpPr>
        <p:spPr>
          <a:xfrm xmlns:a="http://schemas.openxmlformats.org/drawingml/2006/main">
            <a:off x="2819400" y="2952750"/>
            <a:ext cx="2047875" cy="914400"/>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8" name="CloudFront">
            <a:extLst xmlns:a="http://schemas.openxmlformats.org/drawingml/2006/main">
              <a:ext uri="{FF2B5EF4-FFF2-40B4-BE49-F238E27FC236}">
                <a16:creationId xmlns:a16="http://schemas.microsoft.com/office/drawing/2014/main" id="{844BC926-7DE3-4447-AD06-5D51476C7880}"/>
              </a:ext>
            </a:extLst>
          </p:cNvPr>
          <p:cNvSpPr>
            <a:spLocks xmlns:a="http://schemas.openxmlformats.org/drawingml/2006/main" noGrp="1"/>
          </p:cNvSpPr>
          <p:nvPr/>
        </p:nvSpPr>
        <p:spPr>
          <a:xfrm xmlns:a="http://schemas.openxmlformats.org/drawingml/2006/main">
            <a:off x="2990850" y="3095625"/>
            <a:ext cx="1704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C3A"/>
                </a:solidFill>
                <a:latin typeface="Liberation Sans"/>
                <a:ea typeface="Liberation Sans"/>
                <a:cs typeface="Liberation Sans"/>
              </a:defRPr>
            </a:pPr>
            <a:r>
              <a:rPr sz="1875" b="1">
                <a:solidFill>
                  <a:srgbClr val="244C3A"/>
                </a:solidFill>
                <a:latin typeface="Liberation Sans"/>
                <a:ea typeface="Liberation Sans"/>
                <a:cs typeface="Liberation Sans"/>
              </a:rPr>
              <a:t>CloudFront</a:t>
            </a:r>
          </a:p>
        </p:txBody>
      </p:sp>
      <p:sp>
        <p:nvSpPr>
          <p:cNvPr id="9" name="HTTPS entry">
            <a:extLst xmlns:a="http://schemas.openxmlformats.org/drawingml/2006/main">
              <a:ext uri="{FF2B5EF4-FFF2-40B4-BE49-F238E27FC236}">
                <a16:creationId xmlns:a16="http://schemas.microsoft.com/office/drawing/2014/main" id="{CCCE4B02-B1F9-44A8-ADD9-3753C5279A7B}"/>
              </a:ext>
            </a:extLst>
          </p:cNvPr>
          <p:cNvSpPr>
            <a:spLocks xmlns:a="http://schemas.openxmlformats.org/drawingml/2006/main" noGrp="1"/>
          </p:cNvSpPr>
          <p:nvPr/>
        </p:nvSpPr>
        <p:spPr>
          <a:xfrm xmlns:a="http://schemas.openxmlformats.org/drawingml/2006/main">
            <a:off x="2990850" y="3467100"/>
            <a:ext cx="1704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HTTPS entry</a:t>
            </a:r>
          </a:p>
        </p:txBody>
      </p:sp>
      <p:sp>
        <p:nvSpPr>
          <p:cNvPr id="10" name="">
            <a:extLst xmlns:a="http://schemas.openxmlformats.org/drawingml/2006/main">
              <a:ext uri="{FF2B5EF4-FFF2-40B4-BE49-F238E27FC236}">
                <a16:creationId xmlns:a16="http://schemas.microsoft.com/office/drawing/2014/main" id="{A3D31058-8E9D-49AF-BE47-BE34170B5F15}"/>
              </a:ext>
            </a:extLst>
          </p:cNvPr>
          <p:cNvSpPr>
            <a:spLocks xmlns:a="http://schemas.openxmlformats.org/drawingml/2006/main" noGrp="1"/>
          </p:cNvSpPr>
          <p:nvPr/>
        </p:nvSpPr>
        <p:spPr>
          <a:xfrm xmlns:a="http://schemas.openxmlformats.org/drawingml/2006/main">
            <a:off x="5391150" y="2952750"/>
            <a:ext cx="2590800" cy="914400"/>
          </a:xfrm>
          <a:prstGeom xmlns:a="http://schemas.openxmlformats.org/drawingml/2006/main" prst="rect">
            <a:avLst/>
          </a:prstGeom>
          <a:solidFill xmlns:a="http://schemas.openxmlformats.org/drawingml/2006/main">
            <a:srgbClr val="244C3A"/>
          </a:solidFill>
          <a:ln xmlns:a="http://schemas.openxmlformats.org/drawingml/2006/main" w="0">
            <a:noFill/>
          </a:ln>
        </p:spPr>
      </p:sp>
      <p:sp>
        <p:nvSpPr>
          <p:cNvPr id="11" name="API + Lambda">
            <a:extLst xmlns:a="http://schemas.openxmlformats.org/drawingml/2006/main">
              <a:ext uri="{FF2B5EF4-FFF2-40B4-BE49-F238E27FC236}">
                <a16:creationId xmlns:a16="http://schemas.microsoft.com/office/drawing/2014/main" id="{A481820D-580B-481A-86C4-15EE34C4C404}"/>
              </a:ext>
            </a:extLst>
          </p:cNvPr>
          <p:cNvSpPr>
            <a:spLocks xmlns:a="http://schemas.openxmlformats.org/drawingml/2006/main" noGrp="1"/>
          </p:cNvSpPr>
          <p:nvPr/>
        </p:nvSpPr>
        <p:spPr>
          <a:xfrm xmlns:a="http://schemas.openxmlformats.org/drawingml/2006/main">
            <a:off x="5562600" y="3095625"/>
            <a:ext cx="2247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Liberation Sans"/>
                <a:ea typeface="Liberation Sans"/>
                <a:cs typeface="Liberation Sans"/>
              </a:defRPr>
            </a:pPr>
            <a:r>
              <a:rPr sz="2100" b="1">
                <a:solidFill>
                  <a:srgbClr val="FFFFFF"/>
                </a:solidFill>
                <a:latin typeface="Liberation Sans"/>
                <a:ea typeface="Liberation Sans"/>
                <a:cs typeface="Liberation Sans"/>
              </a:rPr>
              <a:t>API + Lambda</a:t>
            </a:r>
          </a:p>
        </p:txBody>
      </p:sp>
      <p:sp>
        <p:nvSpPr>
          <p:cNvPr id="12" name="Validated order service">
            <a:extLst xmlns:a="http://schemas.openxmlformats.org/drawingml/2006/main">
              <a:ext uri="{FF2B5EF4-FFF2-40B4-BE49-F238E27FC236}">
                <a16:creationId xmlns:a16="http://schemas.microsoft.com/office/drawing/2014/main" id="{3C162E06-72CE-4D44-A6A3-730699FAA12F}"/>
              </a:ext>
            </a:extLst>
          </p:cNvPr>
          <p:cNvSpPr>
            <a:spLocks xmlns:a="http://schemas.openxmlformats.org/drawingml/2006/main" noGrp="1"/>
          </p:cNvSpPr>
          <p:nvPr/>
        </p:nvSpPr>
        <p:spPr>
          <a:xfrm xmlns:a="http://schemas.openxmlformats.org/drawingml/2006/main">
            <a:off x="5562600" y="3467100"/>
            <a:ext cx="2247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FFFFF"/>
                </a:solidFill>
                <a:latin typeface="Liberation Sans"/>
                <a:ea typeface="Liberation Sans"/>
                <a:cs typeface="Liberation Sans"/>
              </a:defRPr>
            </a:pPr>
            <a:r>
              <a:rPr sz="1425" b="0">
                <a:solidFill>
                  <a:srgbClr val="FFFFFF"/>
                </a:solidFill>
                <a:latin typeface="Liberation Sans"/>
                <a:ea typeface="Liberation Sans"/>
                <a:cs typeface="Liberation Sans"/>
              </a:rPr>
              <a:t>Validated order service</a:t>
            </a:r>
          </a:p>
        </p:txBody>
      </p:sp>
      <p:sp>
        <p:nvSpPr>
          <p:cNvPr id="13" name="">
            <a:extLst xmlns:a="http://schemas.openxmlformats.org/drawingml/2006/main">
              <a:ext uri="{FF2B5EF4-FFF2-40B4-BE49-F238E27FC236}">
                <a16:creationId xmlns:a16="http://schemas.microsoft.com/office/drawing/2014/main" id="{48747D28-EFD6-4806-8160-7011E737D9A1}"/>
              </a:ext>
            </a:extLst>
          </p:cNvPr>
          <p:cNvSpPr>
            <a:spLocks xmlns:a="http://schemas.openxmlformats.org/drawingml/2006/main" noGrp="1"/>
          </p:cNvSpPr>
          <p:nvPr/>
        </p:nvSpPr>
        <p:spPr>
          <a:xfrm xmlns:a="http://schemas.openxmlformats.org/drawingml/2006/main">
            <a:off x="8791575" y="2952750"/>
            <a:ext cx="2790825" cy="914400"/>
          </a:xfrm>
          <a:prstGeom xmlns:a="http://schemas.openxmlformats.org/drawingml/2006/main" prst="rect">
            <a:avLst/>
          </a:prstGeom>
          <a:solidFill xmlns:a="http://schemas.openxmlformats.org/drawingml/2006/main">
            <a:srgbClr val="D4E9A8"/>
          </a:solidFill>
          <a:ln xmlns:a="http://schemas.openxmlformats.org/drawingml/2006/main" w="0">
            <a:noFill/>
          </a:ln>
        </p:spPr>
      </p:sp>
      <p:sp>
        <p:nvSpPr>
          <p:cNvPr id="14" name="SES / EUM">
            <a:extLst xmlns:a="http://schemas.openxmlformats.org/drawingml/2006/main">
              <a:ext uri="{FF2B5EF4-FFF2-40B4-BE49-F238E27FC236}">
                <a16:creationId xmlns:a16="http://schemas.microsoft.com/office/drawing/2014/main" id="{AB2B98BE-5126-41AF-9CE7-E895576B49B3}"/>
              </a:ext>
            </a:extLst>
          </p:cNvPr>
          <p:cNvSpPr>
            <a:spLocks xmlns:a="http://schemas.openxmlformats.org/drawingml/2006/main" noGrp="1"/>
          </p:cNvSpPr>
          <p:nvPr/>
        </p:nvSpPr>
        <p:spPr>
          <a:xfrm xmlns:a="http://schemas.openxmlformats.org/drawingml/2006/main">
            <a:off x="8963025" y="3095625"/>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4C3A"/>
                </a:solidFill>
                <a:latin typeface="Liberation Sans"/>
                <a:ea typeface="Liberation Sans"/>
                <a:cs typeface="Liberation Sans"/>
              </a:defRPr>
            </a:pPr>
            <a:r>
              <a:rPr sz="2025" b="1">
                <a:solidFill>
                  <a:srgbClr val="244C3A"/>
                </a:solidFill>
                <a:latin typeface="Liberation Sans"/>
                <a:ea typeface="Liberation Sans"/>
                <a:cs typeface="Liberation Sans"/>
              </a:rPr>
              <a:t>SES / EUM</a:t>
            </a:r>
          </a:p>
        </p:txBody>
      </p:sp>
      <p:sp>
        <p:nvSpPr>
          <p:cNvPr id="15" name="Email, WhatsApp, SMS">
            <a:extLst xmlns:a="http://schemas.openxmlformats.org/drawingml/2006/main">
              <a:ext uri="{FF2B5EF4-FFF2-40B4-BE49-F238E27FC236}">
                <a16:creationId xmlns:a16="http://schemas.microsoft.com/office/drawing/2014/main" id="{30384679-84CA-4EEF-8391-502F7F7F01D0}"/>
              </a:ext>
            </a:extLst>
          </p:cNvPr>
          <p:cNvSpPr>
            <a:spLocks xmlns:a="http://schemas.openxmlformats.org/drawingml/2006/main" noGrp="1"/>
          </p:cNvSpPr>
          <p:nvPr/>
        </p:nvSpPr>
        <p:spPr>
          <a:xfrm xmlns:a="http://schemas.openxmlformats.org/drawingml/2006/main">
            <a:off x="8963025" y="3467100"/>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Email, WhatsApp, SMS</a:t>
            </a:r>
          </a:p>
        </p:txBody>
      </p:sp>
      <p:sp>
        <p:nvSpPr>
          <p:cNvPr id="16" name="">
            <a:extLst xmlns:a="http://schemas.openxmlformats.org/drawingml/2006/main">
              <a:ext uri="{FF2B5EF4-FFF2-40B4-BE49-F238E27FC236}">
                <a16:creationId xmlns:a16="http://schemas.microsoft.com/office/drawing/2014/main" id="{FE9AD3D8-21C8-4716-9A7A-B5778E232E70}"/>
              </a:ext>
            </a:extLst>
          </p:cNvPr>
          <p:cNvSpPr>
            <a:spLocks xmlns:a="http://schemas.openxmlformats.org/drawingml/2006/main" noGrp="1"/>
          </p:cNvSpPr>
          <p:nvPr/>
        </p:nvSpPr>
        <p:spPr>
          <a:xfrm xmlns:a="http://schemas.openxmlformats.org/drawingml/2006/main">
            <a:off x="5391150" y="1647825"/>
            <a:ext cx="2590800" cy="847725"/>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17" name="Bedrock">
            <a:extLst xmlns:a="http://schemas.openxmlformats.org/drawingml/2006/main">
              <a:ext uri="{FF2B5EF4-FFF2-40B4-BE49-F238E27FC236}">
                <a16:creationId xmlns:a16="http://schemas.microsoft.com/office/drawing/2014/main" id="{4B8F54F7-232D-4C02-BC01-3F516F927BFC}"/>
              </a:ext>
            </a:extLst>
          </p:cNvPr>
          <p:cNvSpPr>
            <a:spLocks xmlns:a="http://schemas.openxmlformats.org/drawingml/2006/main" noGrp="1"/>
          </p:cNvSpPr>
          <p:nvPr/>
        </p:nvSpPr>
        <p:spPr>
          <a:xfrm xmlns:a="http://schemas.openxmlformats.org/drawingml/2006/main">
            <a:off x="5562600" y="1790700"/>
            <a:ext cx="2247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C3A"/>
                </a:solidFill>
                <a:latin typeface="Liberation Sans"/>
                <a:ea typeface="Liberation Sans"/>
                <a:cs typeface="Liberation Sans"/>
              </a:defRPr>
            </a:pPr>
            <a:r>
              <a:rPr sz="1950" b="1">
                <a:solidFill>
                  <a:srgbClr val="244C3A"/>
                </a:solidFill>
                <a:latin typeface="Liberation Sans"/>
                <a:ea typeface="Liberation Sans"/>
                <a:cs typeface="Liberation Sans"/>
              </a:rPr>
              <a:t>Bedrock</a:t>
            </a:r>
          </a:p>
        </p:txBody>
      </p:sp>
      <p:sp>
        <p:nvSpPr>
          <p:cNvPr id="18" name="Constrained intent">
            <a:extLst xmlns:a="http://schemas.openxmlformats.org/drawingml/2006/main">
              <a:ext uri="{FF2B5EF4-FFF2-40B4-BE49-F238E27FC236}">
                <a16:creationId xmlns:a16="http://schemas.microsoft.com/office/drawing/2014/main" id="{666F3434-FF07-4B6D-8A7C-C8B6B23AE8C3}"/>
              </a:ext>
            </a:extLst>
          </p:cNvPr>
          <p:cNvSpPr>
            <a:spLocks xmlns:a="http://schemas.openxmlformats.org/drawingml/2006/main" noGrp="1"/>
          </p:cNvSpPr>
          <p:nvPr/>
        </p:nvSpPr>
        <p:spPr>
          <a:xfrm xmlns:a="http://schemas.openxmlformats.org/drawingml/2006/main">
            <a:off x="5562600" y="2162175"/>
            <a:ext cx="2247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Constrained intent</a:t>
            </a:r>
          </a:p>
        </p:txBody>
      </p:sp>
      <p:sp>
        <p:nvSpPr>
          <p:cNvPr id="19" name="">
            <a:extLst xmlns:a="http://schemas.openxmlformats.org/drawingml/2006/main">
              <a:ext uri="{FF2B5EF4-FFF2-40B4-BE49-F238E27FC236}">
                <a16:creationId xmlns:a16="http://schemas.microsoft.com/office/drawing/2014/main" id="{08D7CA3E-BE34-4075-88C1-C244D183546C}"/>
              </a:ext>
            </a:extLst>
          </p:cNvPr>
          <p:cNvSpPr>
            <a:spLocks xmlns:a="http://schemas.openxmlformats.org/drawingml/2006/main" noGrp="1"/>
          </p:cNvSpPr>
          <p:nvPr/>
        </p:nvSpPr>
        <p:spPr>
          <a:xfrm xmlns:a="http://schemas.openxmlformats.org/drawingml/2006/main">
            <a:off x="5391150" y="4591050"/>
            <a:ext cx="2590800"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20" name="DynamoDB">
            <a:extLst xmlns:a="http://schemas.openxmlformats.org/drawingml/2006/main">
              <a:ext uri="{FF2B5EF4-FFF2-40B4-BE49-F238E27FC236}">
                <a16:creationId xmlns:a16="http://schemas.microsoft.com/office/drawing/2014/main" id="{8BBCC17E-F362-49A6-AAA1-D74BB378893D}"/>
              </a:ext>
            </a:extLst>
          </p:cNvPr>
          <p:cNvSpPr>
            <a:spLocks xmlns:a="http://schemas.openxmlformats.org/drawingml/2006/main" noGrp="1"/>
          </p:cNvSpPr>
          <p:nvPr/>
        </p:nvSpPr>
        <p:spPr>
          <a:xfrm xmlns:a="http://schemas.openxmlformats.org/drawingml/2006/main">
            <a:off x="5562600" y="4733925"/>
            <a:ext cx="2247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C3A"/>
                </a:solidFill>
                <a:latin typeface="Liberation Sans"/>
                <a:ea typeface="Liberation Sans"/>
                <a:cs typeface="Liberation Sans"/>
              </a:defRPr>
            </a:pPr>
            <a:r>
              <a:rPr sz="1875" b="1">
                <a:solidFill>
                  <a:srgbClr val="244C3A"/>
                </a:solidFill>
                <a:latin typeface="Liberation Sans"/>
                <a:ea typeface="Liberation Sans"/>
                <a:cs typeface="Liberation Sans"/>
              </a:rPr>
              <a:t>DynamoDB</a:t>
            </a:r>
          </a:p>
        </p:txBody>
      </p:sp>
      <p:sp>
        <p:nvSpPr>
          <p:cNvPr id="21" name="Snapshot + CAS head">
            <a:extLst xmlns:a="http://schemas.openxmlformats.org/drawingml/2006/main">
              <a:ext uri="{FF2B5EF4-FFF2-40B4-BE49-F238E27FC236}">
                <a16:creationId xmlns:a16="http://schemas.microsoft.com/office/drawing/2014/main" id="{208B008F-15EB-4ACD-8C7F-C290AFA992E5}"/>
              </a:ext>
            </a:extLst>
          </p:cNvPr>
          <p:cNvSpPr>
            <a:spLocks xmlns:a="http://schemas.openxmlformats.org/drawingml/2006/main" noGrp="1"/>
          </p:cNvSpPr>
          <p:nvPr/>
        </p:nvSpPr>
        <p:spPr>
          <a:xfrm xmlns:a="http://schemas.openxmlformats.org/drawingml/2006/main">
            <a:off x="5562600" y="5105400"/>
            <a:ext cx="224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Snapshot + CAS head</a:t>
            </a:r>
          </a:p>
        </p:txBody>
      </p:sp>
      <p:sp>
        <p:nvSpPr>
          <p:cNvPr id="22" name="">
            <a:extLst xmlns:a="http://schemas.openxmlformats.org/drawingml/2006/main">
              <a:ext uri="{FF2B5EF4-FFF2-40B4-BE49-F238E27FC236}">
                <a16:creationId xmlns:a16="http://schemas.microsoft.com/office/drawing/2014/main" id="{2602DB01-F5EE-422C-96EB-459142CFED97}"/>
              </a:ext>
            </a:extLst>
          </p:cNvPr>
          <p:cNvSpPr>
            <a:spLocks xmlns:a="http://schemas.openxmlformats.org/drawingml/2006/main" noGrp="1"/>
          </p:cNvSpPr>
          <p:nvPr/>
        </p:nvSpPr>
        <p:spPr>
          <a:xfrm xmlns:a="http://schemas.openxmlformats.org/drawingml/2006/main">
            <a:off x="2819400" y="4591050"/>
            <a:ext cx="2047875"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23" name="Private S3">
            <a:extLst xmlns:a="http://schemas.openxmlformats.org/drawingml/2006/main">
              <a:ext uri="{FF2B5EF4-FFF2-40B4-BE49-F238E27FC236}">
                <a16:creationId xmlns:a16="http://schemas.microsoft.com/office/drawing/2014/main" id="{1993F94E-8908-4DBE-9DB5-DAA9111DFE85}"/>
              </a:ext>
            </a:extLst>
          </p:cNvPr>
          <p:cNvSpPr>
            <a:spLocks xmlns:a="http://schemas.openxmlformats.org/drawingml/2006/main" noGrp="1"/>
          </p:cNvSpPr>
          <p:nvPr/>
        </p:nvSpPr>
        <p:spPr>
          <a:xfrm xmlns:a="http://schemas.openxmlformats.org/drawingml/2006/main">
            <a:off x="2990850" y="4733925"/>
            <a:ext cx="1704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C3A"/>
                </a:solidFill>
                <a:latin typeface="Liberation Sans"/>
                <a:ea typeface="Liberation Sans"/>
                <a:cs typeface="Liberation Sans"/>
              </a:defRPr>
            </a:pPr>
            <a:r>
              <a:rPr sz="1800" b="1">
                <a:solidFill>
                  <a:srgbClr val="244C3A"/>
                </a:solidFill>
                <a:latin typeface="Liberation Sans"/>
                <a:ea typeface="Liberation Sans"/>
                <a:cs typeface="Liberation Sans"/>
              </a:rPr>
              <a:t>Private S3</a:t>
            </a:r>
          </a:p>
        </p:txBody>
      </p:sp>
      <p:sp>
        <p:nvSpPr>
          <p:cNvPr id="24" name="Static application">
            <a:extLst xmlns:a="http://schemas.openxmlformats.org/drawingml/2006/main">
              <a:ext uri="{FF2B5EF4-FFF2-40B4-BE49-F238E27FC236}">
                <a16:creationId xmlns:a16="http://schemas.microsoft.com/office/drawing/2014/main" id="{3E956EB2-3E94-4F96-991E-BC6643D418B7}"/>
              </a:ext>
            </a:extLst>
          </p:cNvPr>
          <p:cNvSpPr>
            <a:spLocks xmlns:a="http://schemas.openxmlformats.org/drawingml/2006/main" noGrp="1"/>
          </p:cNvSpPr>
          <p:nvPr/>
        </p:nvSpPr>
        <p:spPr>
          <a:xfrm xmlns:a="http://schemas.openxmlformats.org/drawingml/2006/main">
            <a:off x="2990850" y="5105400"/>
            <a:ext cx="1704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Static application</a:t>
            </a:r>
          </a:p>
        </p:txBody>
      </p:sp>
      <p:sp>
        <p:nvSpPr>
          <p:cNvPr id="25" name="">
            <a:extLst xmlns:a="http://schemas.openxmlformats.org/drawingml/2006/main">
              <a:ext uri="{FF2B5EF4-FFF2-40B4-BE49-F238E27FC236}">
                <a16:creationId xmlns:a16="http://schemas.microsoft.com/office/drawing/2014/main" id="{AF95838B-F733-4996-9EE6-D1A39E4B402C}"/>
              </a:ext>
            </a:extLst>
          </p:cNvPr>
          <p:cNvSpPr>
            <a:spLocks xmlns:a="http://schemas.openxmlformats.org/drawingml/2006/main" noGrp="1"/>
          </p:cNvSpPr>
          <p:nvPr/>
        </p:nvSpPr>
        <p:spPr>
          <a:xfrm xmlns:a="http://schemas.openxmlformats.org/drawingml/2006/main">
            <a:off x="8791575" y="4591050"/>
            <a:ext cx="2790825"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D8DED5"/>
            </a:solidFill>
          </a:ln>
        </p:spPr>
      </p:sp>
      <p:sp>
        <p:nvSpPr>
          <p:cNvPr id="26" name="SNS + SQS">
            <a:extLst xmlns:a="http://schemas.openxmlformats.org/drawingml/2006/main">
              <a:ext uri="{FF2B5EF4-FFF2-40B4-BE49-F238E27FC236}">
                <a16:creationId xmlns:a16="http://schemas.microsoft.com/office/drawing/2014/main" id="{74ED20CF-DEB4-4874-88C2-9DF8FBE43E65}"/>
              </a:ext>
            </a:extLst>
          </p:cNvPr>
          <p:cNvSpPr>
            <a:spLocks xmlns:a="http://schemas.openxmlformats.org/drawingml/2006/main" noGrp="1"/>
          </p:cNvSpPr>
          <p:nvPr/>
        </p:nvSpPr>
        <p:spPr>
          <a:xfrm xmlns:a="http://schemas.openxmlformats.org/drawingml/2006/main">
            <a:off x="8963025" y="4733925"/>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C3A"/>
                </a:solidFill>
                <a:latin typeface="Liberation Sans"/>
                <a:ea typeface="Liberation Sans"/>
                <a:cs typeface="Liberation Sans"/>
              </a:defRPr>
            </a:pPr>
            <a:r>
              <a:rPr sz="1950" b="1">
                <a:solidFill>
                  <a:srgbClr val="244C3A"/>
                </a:solidFill>
                <a:latin typeface="Liberation Sans"/>
                <a:ea typeface="Liberation Sans"/>
                <a:cs typeface="Liberation Sans"/>
              </a:rPr>
              <a:t>SNS + SQS</a:t>
            </a:r>
          </a:p>
        </p:txBody>
      </p:sp>
      <p:sp>
        <p:nvSpPr>
          <p:cNvPr id="27" name="Inbound events and DLQ">
            <a:extLst xmlns:a="http://schemas.openxmlformats.org/drawingml/2006/main">
              <a:ext uri="{FF2B5EF4-FFF2-40B4-BE49-F238E27FC236}">
                <a16:creationId xmlns:a16="http://schemas.microsoft.com/office/drawing/2014/main" id="{73E03798-7342-4BF3-A740-0406A20D869B}"/>
              </a:ext>
            </a:extLst>
          </p:cNvPr>
          <p:cNvSpPr>
            <a:spLocks xmlns:a="http://schemas.openxmlformats.org/drawingml/2006/main" noGrp="1"/>
          </p:cNvSpPr>
          <p:nvPr/>
        </p:nvSpPr>
        <p:spPr>
          <a:xfrm xmlns:a="http://schemas.openxmlformats.org/drawingml/2006/main">
            <a:off x="8963025" y="5105400"/>
            <a:ext cx="2447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44C3A"/>
                </a:solidFill>
                <a:latin typeface="Liberation Sans"/>
                <a:ea typeface="Liberation Sans"/>
                <a:cs typeface="Liberation Sans"/>
              </a:defRPr>
            </a:pPr>
            <a:r>
              <a:rPr sz="1425" b="0">
                <a:solidFill>
                  <a:srgbClr val="244C3A"/>
                </a:solidFill>
                <a:latin typeface="Liberation Sans"/>
                <a:ea typeface="Liberation Sans"/>
                <a:cs typeface="Liberation Sans"/>
              </a:rPr>
              <a:t>Inbound events and DLQ</a:t>
            </a:r>
          </a:p>
        </p:txBody>
      </p:sp>
      <p:cxnSp>
        <p:nvCxnSpPr>
          <p:cNvPr id="65" name=""/>
          <p:cNvCxnSpPr>
            <a:stCxn xmlns:a="http://schemas.openxmlformats.org/drawingml/2006/main" id="4" idx="3"/>
            <a:endCxn xmlns:a="http://schemas.openxmlformats.org/drawingml/2006/main" id="7" idx="1"/>
          </p:cNvCxnSpPr>
          <p:nvPr/>
        </p:nvCxnSpPr>
        <p:spPr>
          <a:xfrm xmlns:a="http://schemas.openxmlformats.org/drawingml/2006/main">
            <a:off x="2438400" y="3409950"/>
            <a:ext cx="381000" cy="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66" name=""/>
          <p:cNvCxnSpPr>
            <a:stCxn xmlns:a="http://schemas.openxmlformats.org/drawingml/2006/main" id="7" idx="3"/>
            <a:endCxn xmlns:a="http://schemas.openxmlformats.org/drawingml/2006/main" id="10" idx="1"/>
          </p:cNvCxnSpPr>
          <p:nvPr/>
        </p:nvCxnSpPr>
        <p:spPr>
          <a:xfrm xmlns:a="http://schemas.openxmlformats.org/drawingml/2006/main">
            <a:off x="4867275" y="3409950"/>
            <a:ext cx="523875" cy="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67" name=""/>
          <p:cNvCxnSpPr>
            <a:stCxn xmlns:a="http://schemas.openxmlformats.org/drawingml/2006/main" id="10" idx="3"/>
            <a:endCxn xmlns:a="http://schemas.openxmlformats.org/drawingml/2006/main" id="13" idx="1"/>
          </p:cNvCxnSpPr>
          <p:nvPr/>
        </p:nvCxnSpPr>
        <p:spPr>
          <a:xfrm xmlns:a="http://schemas.openxmlformats.org/drawingml/2006/main">
            <a:off x="7981950" y="3409950"/>
            <a:ext cx="809625" cy="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68" name=""/>
          <p:cNvCxnSpPr>
            <a:stCxn xmlns:a="http://schemas.openxmlformats.org/drawingml/2006/main" id="16" idx="2"/>
            <a:endCxn xmlns:a="http://schemas.openxmlformats.org/drawingml/2006/main" id="10" idx="0"/>
          </p:cNvCxnSpPr>
          <p:nvPr/>
        </p:nvCxnSpPr>
        <p:spPr>
          <a:xfrm xmlns:a="http://schemas.openxmlformats.org/drawingml/2006/main">
            <a:off x="6686550" y="2495550"/>
            <a:ext cx="0" cy="45720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69" name=""/>
          <p:cNvCxnSpPr>
            <a:stCxn xmlns:a="http://schemas.openxmlformats.org/drawingml/2006/main" id="10" idx="2"/>
            <a:endCxn xmlns:a="http://schemas.openxmlformats.org/drawingml/2006/main" id="19" idx="0"/>
          </p:cNvCxnSpPr>
          <p:nvPr/>
        </p:nvCxnSpPr>
        <p:spPr>
          <a:xfrm xmlns:a="http://schemas.openxmlformats.org/drawingml/2006/main">
            <a:off x="6686550" y="3867150"/>
            <a:ext cx="0" cy="72390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70" name=""/>
          <p:cNvCxnSpPr>
            <a:stCxn xmlns:a="http://schemas.openxmlformats.org/drawingml/2006/main" id="7" idx="2"/>
            <a:endCxn xmlns:a="http://schemas.openxmlformats.org/drawingml/2006/main" id="22" idx="0"/>
          </p:cNvCxnSpPr>
          <p:nvPr/>
        </p:nvCxnSpPr>
        <p:spPr>
          <a:xfrm xmlns:a="http://schemas.openxmlformats.org/drawingml/2006/main">
            <a:off x="3843338" y="3867150"/>
            <a:ext cx="0" cy="72390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71" name=""/>
          <p:cNvCxnSpPr>
            <a:stCxn xmlns:a="http://schemas.openxmlformats.org/drawingml/2006/main" id="13" idx="2"/>
            <a:endCxn xmlns:a="http://schemas.openxmlformats.org/drawingml/2006/main" id="25" idx="0"/>
          </p:cNvCxnSpPr>
          <p:nvPr/>
        </p:nvCxnSpPr>
        <p:spPr>
          <a:xfrm xmlns:a="http://schemas.openxmlformats.org/drawingml/2006/main">
            <a:off x="10186988" y="3867150"/>
            <a:ext cx="0" cy="723900"/>
          </a:xfrm>
          <a:prstGeom xmlns:a="http://schemas.openxmlformats.org/drawingml/2006/main" prst="straightConnector1">
            <a:avLst/>
          </a:prstGeom>
          <a:ln xmlns:a="http://schemas.openxmlformats.org/drawingml/2006/main" w="22860">
            <a:solidFill>
              <a:srgbClr val="617065"/>
            </a:solidFill>
            <a:tailEnd type="triangle" w="sm" len="sm"/>
          </a:ln>
        </p:spPr>
      </p:cxnSp>
      <p:cxnSp>
        <p:nvCxnSpPr>
          <p:cNvPr id="72" name=""/>
          <p:cNvCxnSpPr>
            <a:stCxn xmlns:a="http://schemas.openxmlformats.org/drawingml/2006/main" id="25" idx="1"/>
            <a:endCxn xmlns:a="http://schemas.openxmlformats.org/drawingml/2006/main" id="10" idx="3"/>
          </p:cNvCxnSpPr>
          <p:nvPr/>
        </p:nvCxnSpPr>
        <p:spPr>
          <a:xfrm xmlns:a="http://schemas.openxmlformats.org/drawingml/2006/main" flipH="1" flipV="1">
            <a:off x="7981950" y="3409950"/>
            <a:ext cx="809625" cy="1619250"/>
          </a:xfrm>
          <a:prstGeom xmlns:a="http://schemas.openxmlformats.org/drawingml/2006/main" prst="bentConnector3">
            <a:avLst>
              <a:gd name="adj1" fmla="val 50000"/>
            </a:avLst>
          </a:prstGeom>
          <a:ln xmlns:a="http://schemas.openxmlformats.org/drawingml/2006/main" w="22860">
            <a:solidFill>
              <a:srgbClr val="617065"/>
            </a:solidFill>
            <a:tailEnd type="triangle" w="sm" len="sm"/>
          </a:ln>
        </p:spPr>
      </p:cxnSp>
      <p:sp>
        <p:nvSpPr>
          <p:cNvPr id="36" name="Cloud validation pending. Secrets Manager, CloudWatc">
            <a:extLst xmlns:a="http://schemas.openxmlformats.org/drawingml/2006/main">
              <a:ext uri="{FF2B5EF4-FFF2-40B4-BE49-F238E27FC236}">
                <a16:creationId xmlns:a16="http://schemas.microsoft.com/office/drawing/2014/main" id="{8C7FFEE9-C543-46F1-9547-1519CD1E2C8F}"/>
              </a:ext>
            </a:extLst>
          </p:cNvPr>
          <p:cNvSpPr>
            <a:spLocks xmlns:a="http://schemas.openxmlformats.org/drawingml/2006/main" noGrp="1"/>
          </p:cNvSpPr>
          <p:nvPr/>
        </p:nvSpPr>
        <p:spPr>
          <a:xfrm xmlns:a="http://schemas.openxmlformats.org/drawingml/2006/main">
            <a:off x="619125" y="5791200"/>
            <a:ext cx="1106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065"/>
                </a:solidFill>
                <a:latin typeface="Liberation Sans"/>
                <a:ea typeface="Liberation Sans"/>
                <a:cs typeface="Liberation Sans"/>
              </a:defRPr>
            </a:pPr>
            <a:r>
              <a:rPr sz="1350" b="0">
                <a:solidFill>
                  <a:srgbClr val="617065"/>
                </a:solidFill>
                <a:latin typeface="Liberation Sans"/>
                <a:ea typeface="Liberation Sans"/>
                <a:cs typeface="Liberation Sans"/>
              </a:rPr>
              <a:t>Cloud validation pending. Secrets Manager, CloudWatch and queued-send recovery support the application.</a:t>
            </a:r>
          </a:p>
        </p:txBody>
      </p:sp>
      <p:sp>
        <p:nvSpPr>
          <p:cNvPr id="37" name="Current provider-event configuration routes to one l">
            <a:extLst xmlns:a="http://schemas.openxmlformats.org/drawingml/2006/main">
              <a:ext uri="{FF2B5EF4-FFF2-40B4-BE49-F238E27FC236}">
                <a16:creationId xmlns:a16="http://schemas.microsoft.com/office/drawing/2014/main" id="{DA79C1C1-8ACB-4260-B964-F3C9B95F0E3D}"/>
              </a:ext>
            </a:extLst>
          </p:cNvPr>
          <p:cNvSpPr>
            <a:spLocks xmlns:a="http://schemas.openxmlformats.org/drawingml/2006/main" noGrp="1"/>
          </p:cNvSpPr>
          <p:nvPr/>
        </p:nvSpPr>
        <p:spPr>
          <a:xfrm xmlns:a="http://schemas.openxmlformats.org/drawingml/2006/main">
            <a:off x="619125" y="6076950"/>
            <a:ext cx="11068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065"/>
                </a:solidFill>
                <a:latin typeface="Liberation Sans"/>
                <a:ea typeface="Liberation Sans"/>
                <a:cs typeface="Liberation Sans"/>
              </a:defRPr>
            </a:pPr>
            <a:r>
              <a:rPr sz="1275" b="0">
                <a:solidFill>
                  <a:srgbClr val="617065"/>
                </a:solidFill>
                <a:latin typeface="Liberation Sans"/>
                <a:ea typeface="Liberation Sans"/>
                <a:cs typeface="Liberation Sans"/>
              </a:rPr>
              <a:t>Current provider-event configuration routes to one live workspace. Full diagram accompanies this deck.</a:t>
            </a:r>
          </a:p>
        </p:txBody>
      </p:sp>
    </p:spTree>
    <p:extLst>
      <p:ext uri="{BB962C8B-B14F-4D97-AF65-F5344CB8AC3E}">
        <p14:creationId xmlns:p14="http://schemas.microsoft.com/office/powerpoint/2010/main" val="1276266714"/>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The example books £708 in sales">
            <a:extLst xmlns:a="http://schemas.openxmlformats.org/drawingml/2006/main">
              <a:ext uri="{FF2B5EF4-FFF2-40B4-BE49-F238E27FC236}">
                <a16:creationId xmlns:a16="http://schemas.microsoft.com/office/drawing/2014/main" id="{C0B01F24-CA71-407C-9C21-B286954FC564}"/>
              </a:ext>
            </a:extLst>
          </p:cNvPr>
          <p:cNvSpPr>
            <a:spLocks xmlns:a="http://schemas.openxmlformats.org/drawingml/2006/main" noGrp="1"/>
          </p:cNvSpPr>
          <p:nvPr/>
        </p:nvSpPr>
        <p:spPr>
          <a:xfrm xmlns:a="http://schemas.openxmlformats.org/drawingml/2006/main">
            <a:off x="609600" y="5334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4C3A"/>
                </a:solidFill>
                <a:latin typeface="Liberation Sans"/>
                <a:ea typeface="Liberation Sans"/>
                <a:cs typeface="Liberation Sans"/>
              </a:defRPr>
            </a:pPr>
            <a:r>
              <a:rPr sz="4050" b="1">
                <a:solidFill>
                  <a:srgbClr val="244C3A"/>
                </a:solidFill>
                <a:latin typeface="Liberation Sans"/>
                <a:ea typeface="Liberation Sans"/>
                <a:cs typeface="Liberation Sans"/>
              </a:rPr>
              <a:t>The example books £708 in sales</a:t>
            </a:r>
          </a:p>
        </p:txBody>
      </p:sp>
      <p:sp>
        <p:nvSpPr>
          <p:cNvPr id="2" name="SECONDCRATE">
            <a:extLst xmlns:a="http://schemas.openxmlformats.org/drawingml/2006/main">
              <a:ext uri="{FF2B5EF4-FFF2-40B4-BE49-F238E27FC236}">
                <a16:creationId xmlns:a16="http://schemas.microsoft.com/office/drawing/2014/main" id="{8AAE2857-7CCB-4ABF-A92C-08F39C1E460F}"/>
              </a:ext>
            </a:extLst>
          </p:cNvPr>
          <p:cNvSpPr>
            <a:spLocks xmlns:a="http://schemas.openxmlformats.org/drawingml/2006/main" noGrp="1"/>
          </p:cNvSpPr>
          <p:nvPr/>
        </p:nvSpPr>
        <p:spPr>
          <a:xfrm xmlns:a="http://schemas.openxmlformats.org/drawingml/2006/main">
            <a:off x="609600" y="64198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17065"/>
                </a:solidFill>
                <a:latin typeface="Liberation Sans"/>
                <a:ea typeface="Liberation Sans"/>
                <a:cs typeface="Liberation Sans"/>
              </a:defRPr>
            </a:pPr>
            <a:r>
              <a:rPr sz="1125" b="1">
                <a:solidFill>
                  <a:srgbClr val="617065"/>
                </a:solidFill>
                <a:latin typeface="Liberation Sans"/>
                <a:ea typeface="Liberation Sans"/>
                <a:cs typeface="Liberation Sans"/>
              </a:rPr>
              <a:t>SECONDCRATE</a:t>
            </a:r>
          </a:p>
        </p:txBody>
      </p:sp>
      <p:sp>
        <p:nvSpPr>
          <p:cNvPr id="3" name="06">
            <a:extLst xmlns:a="http://schemas.openxmlformats.org/drawingml/2006/main">
              <a:ext uri="{FF2B5EF4-FFF2-40B4-BE49-F238E27FC236}">
                <a16:creationId xmlns:a16="http://schemas.microsoft.com/office/drawing/2014/main" id="{8530F7D4-1899-46A1-AD2A-18BC2E64FE5D}"/>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17065"/>
                </a:solidFill>
                <a:latin typeface="Liberation Sans"/>
                <a:ea typeface="Liberation Sans"/>
                <a:cs typeface="Liberation Sans"/>
              </a:defRPr>
            </a:pPr>
            <a:r>
              <a:rPr sz="1125" b="0">
                <a:solidFill>
                  <a:srgbClr val="617065"/>
                </a:solidFill>
                <a:latin typeface="Liberation Sans"/>
                <a:ea typeface="Liberation Sans"/>
                <a:cs typeface="Liberation Sans"/>
              </a:rPr>
              <a:t>06</a:t>
            </a:r>
          </a:p>
        </p:txBody>
      </p:sp>
      <p:graphicFrame>
        <p:nvGraphicFramePr>
          <p:cNvPr id="14" name=""/>
          <p:cNvGraphicFramePr/>
          <p:nvPr/>
        </p:nvGraphicFramePr>
        <p:xfrm>
          <a:off xmlns:a="http://schemas.openxmlformats.org/drawingml/2006/main" x="628650" y="1876425"/>
          <a:ext xmlns:a="http://schemas.openxmlformats.org/drawingml/2006/main" cx="6686550" cy="2895600"/>
        </p:xfrm>
        <a:graphic xmlns:a="http://schemas.openxmlformats.org/drawingml/2006/main">
          <a:graphicData uri="http://schemas.openxmlformats.org/drawingml/2006/table">
            <a:tbl>
              <a:tblPr/>
              <a:tblGrid>
                <a:gridCol w="3048000"/>
                <a:gridCol w="1047750"/>
                <a:gridCol w="1143000"/>
                <a:gridCol w="1447800"/>
              </a:tblGrid>
              <a:tr h="579120">
                <a:tc>
                  <a:txBody>
                    <a:bodyPr/>
                    <a:lstStyle/>
                    <a:p>
                      <a:r>
                        <a:rPr sz="1800" b="1">
                          <a:solidFill>
                            <a:srgbClr val="FFFFFF"/>
                          </a:solidFill>
                          <a:latin typeface="Liberation Sans"/>
                          <a:ea typeface="Liberation Sans"/>
                          <a:cs typeface="Liberation Sans"/>
                        </a:rPr>
                        <a:t>Buyer</a:t>
                      </a:r>
                    </a:p>
                  </a:txBody>
                  <a:tcPr marL="91440" marR="91440" marT="45720" marB="45720">
                    <a:solidFill>
                      <a:srgbClr val="244C3A"/>
                    </a:solidFill>
                  </a:tcPr>
                </a:tc>
                <a:tc>
                  <a:txBody>
                    <a:bodyPr/>
                    <a:lstStyle/>
                    <a:p>
                      <a:r>
                        <a:rPr sz="1800" b="1">
                          <a:solidFill>
                            <a:srgbClr val="FFFFFF"/>
                          </a:solidFill>
                          <a:latin typeface="Liberation Sans"/>
                          <a:ea typeface="Liberation Sans"/>
                          <a:cs typeface="Liberation Sans"/>
                        </a:rPr>
                        <a:t>Crates</a:t>
                      </a:r>
                    </a:p>
                  </a:txBody>
                  <a:tcPr marL="91440" marR="91440" marT="45720" marB="45720">
                    <a:solidFill>
                      <a:srgbClr val="244C3A"/>
                    </a:solidFill>
                  </a:tcPr>
                </a:tc>
                <a:tc>
                  <a:txBody>
                    <a:bodyPr/>
                    <a:lstStyle/>
                    <a:p>
                      <a:r>
                        <a:rPr sz="1800" b="1">
                          <a:solidFill>
                            <a:srgbClr val="FFFFFF"/>
                          </a:solidFill>
                          <a:latin typeface="Liberation Sans"/>
                          <a:ea typeface="Liberation Sans"/>
                          <a:cs typeface="Liberation Sans"/>
                        </a:rPr>
                        <a:t>Price</a:t>
                      </a:r>
                    </a:p>
                  </a:txBody>
                  <a:tcPr marL="91440" marR="91440" marT="45720" marB="45720">
                    <a:solidFill>
                      <a:srgbClr val="244C3A"/>
                    </a:solidFill>
                  </a:tcPr>
                </a:tc>
                <a:tc>
                  <a:txBody>
                    <a:bodyPr/>
                    <a:lstStyle/>
                    <a:p>
                      <a:r>
                        <a:rPr sz="1800" b="1">
                          <a:solidFill>
                            <a:srgbClr val="FFFFFF"/>
                          </a:solidFill>
                          <a:latin typeface="Liberation Sans"/>
                          <a:ea typeface="Liberation Sans"/>
                          <a:cs typeface="Liberation Sans"/>
                        </a:rPr>
                        <a:t>Sales</a:t>
                      </a:r>
                    </a:p>
                  </a:txBody>
                  <a:tcPr marL="91440" marR="91440" marT="45720" marB="45720">
                    <a:solidFill>
                      <a:srgbClr val="244C3A"/>
                    </a:solidFill>
                  </a:tcPr>
                </a:tc>
              </a:tr>
              <a:tr h="579120">
                <a:tc>
                  <a:txBody>
                    <a:bodyPr/>
                    <a:lstStyle/>
                    <a:p>
                      <a:r>
                        <a:rPr sz="1800" b="0">
                          <a:solidFill>
                            <a:srgbClr val="244C3A"/>
                          </a:solidFill>
                          <a:latin typeface="Liberation Sans"/>
                          <a:ea typeface="Liberation Sans"/>
                          <a:cs typeface="Liberation Sans"/>
                        </a:rPr>
                        <a:t>Olive &amp; Rye</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12</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£17</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£204</a:t>
                      </a:r>
                    </a:p>
                  </a:txBody>
                  <a:tcPr marL="91440" marR="91440" marT="45720" marB="45720">
                    <a:solidFill>
                      <a:srgbClr val="FFFFFF"/>
                    </a:solidFill>
                  </a:tcPr>
                </a:tc>
              </a:tr>
              <a:tr h="579120">
                <a:tc>
                  <a:txBody>
                    <a:bodyPr/>
                    <a:lstStyle/>
                    <a:p>
                      <a:r>
                        <a:rPr sz="1800" b="0">
                          <a:solidFill>
                            <a:srgbClr val="244C3A"/>
                          </a:solidFill>
                          <a:latin typeface="Liberation Sans"/>
                          <a:ea typeface="Liberation Sans"/>
                          <a:cs typeface="Liberation Sans"/>
                        </a:rPr>
                        <a:t>The Sunday Table</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20</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£18</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£360</a:t>
                      </a:r>
                    </a:p>
                  </a:txBody>
                  <a:tcPr marL="91440" marR="91440" marT="45720" marB="45720">
                    <a:solidFill>
                      <a:srgbClr val="FFFFFF"/>
                    </a:solidFill>
                  </a:tcPr>
                </a:tc>
              </a:tr>
              <a:tr h="579120">
                <a:tc>
                  <a:txBody>
                    <a:bodyPr/>
                    <a:lstStyle/>
                    <a:p>
                      <a:r>
                        <a:rPr sz="1800" b="0">
                          <a:solidFill>
                            <a:srgbClr val="244C3A"/>
                          </a:solidFill>
                          <a:latin typeface="Liberation Sans"/>
                          <a:ea typeface="Liberation Sans"/>
                          <a:cs typeface="Liberation Sans"/>
                        </a:rPr>
                        <a:t>Final-stock winner</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8</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£18</a:t>
                      </a:r>
                    </a:p>
                  </a:txBody>
                  <a:tcPr marL="91440" marR="91440" marT="45720" marB="45720">
                    <a:solidFill>
                      <a:srgbClr val="FFFFFF"/>
                    </a:solidFill>
                  </a:tcPr>
                </a:tc>
                <a:tc>
                  <a:txBody>
                    <a:bodyPr/>
                    <a:lstStyle/>
                    <a:p>
                      <a:r>
                        <a:rPr sz="1800" b="0">
                          <a:solidFill>
                            <a:srgbClr val="244C3A"/>
                          </a:solidFill>
                          <a:latin typeface="Liberation Sans"/>
                          <a:ea typeface="Liberation Sans"/>
                          <a:cs typeface="Liberation Sans"/>
                        </a:rPr>
                        <a:t>£144</a:t>
                      </a:r>
                    </a:p>
                  </a:txBody>
                  <a:tcPr marL="91440" marR="91440" marT="45720" marB="45720">
                    <a:solidFill>
                      <a:srgbClr val="FFFFFF"/>
                    </a:solidFill>
                  </a:tcPr>
                </a:tc>
              </a:tr>
              <a:tr h="579120">
                <a:tc>
                  <a:txBody>
                    <a:bodyPr/>
                    <a:lstStyle/>
                    <a:p>
                      <a:r>
                        <a:rPr sz="1800" b="1">
                          <a:solidFill>
                            <a:srgbClr val="244C3A"/>
                          </a:solidFill>
                          <a:latin typeface="Liberation Sans"/>
                          <a:ea typeface="Liberation Sans"/>
                          <a:cs typeface="Liberation Sans"/>
                        </a:rPr>
                        <a:t>Total</a:t>
                      </a:r>
                    </a:p>
                  </a:txBody>
                  <a:tcPr marL="91440" marR="91440" marT="45720" marB="45720">
                    <a:solidFill>
                      <a:srgbClr val="D4E9A8"/>
                    </a:solidFill>
                  </a:tcPr>
                </a:tc>
                <a:tc>
                  <a:txBody>
                    <a:bodyPr/>
                    <a:lstStyle/>
                    <a:p>
                      <a:r>
                        <a:rPr sz="1800" b="1">
                          <a:solidFill>
                            <a:srgbClr val="244C3A"/>
                          </a:solidFill>
                          <a:latin typeface="Liberation Sans"/>
                          <a:ea typeface="Liberation Sans"/>
                          <a:cs typeface="Liberation Sans"/>
                        </a:rPr>
                        <a:t>40</a:t>
                      </a:r>
                    </a:p>
                  </a:txBody>
                  <a:tcPr marL="91440" marR="91440" marT="45720" marB="45720">
                    <a:solidFill>
                      <a:srgbClr val="D4E9A8"/>
                    </a:solidFill>
                  </a:tcPr>
                </a:tc>
                <a:tc>
                  <a:txBody>
                    <a:bodyPr/>
                    <a:lstStyle/>
                    <a:p>
                      <a:r>
                        <a:rPr sz="1800" b="1">
                          <a:solidFill>
                            <a:srgbClr val="244C3A"/>
                          </a:solidFill>
                          <a:latin typeface="Liberation Sans"/>
                          <a:ea typeface="Liberation Sans"/>
                          <a:cs typeface="Liberation Sans"/>
                        </a:rPr>
                        <a:t/>
                      </a:r>
                    </a:p>
                  </a:txBody>
                  <a:tcPr marL="91440" marR="91440" marT="45720" marB="45720">
                    <a:solidFill>
                      <a:srgbClr val="D4E9A8"/>
                    </a:solidFill>
                  </a:tcPr>
                </a:tc>
                <a:tc>
                  <a:txBody>
                    <a:bodyPr/>
                    <a:lstStyle/>
                    <a:p>
                      <a:r>
                        <a:rPr sz="1800" b="1">
                          <a:solidFill>
                            <a:srgbClr val="244C3A"/>
                          </a:solidFill>
                          <a:latin typeface="Liberation Sans"/>
                          <a:ea typeface="Liberation Sans"/>
                          <a:cs typeface="Liberation Sans"/>
                        </a:rPr>
                        <a:t>£708</a:t>
                      </a:r>
                    </a:p>
                  </a:txBody>
                  <a:tcPr marL="91440" marR="91440" marT="45720" marB="45720">
                    <a:solidFill>
                      <a:srgbClr val="D4E9A8"/>
                    </a:solidFill>
                  </a:tcPr>
                </a:tc>
              </a:tr>
            </a:tbl>
          </a:graphicData>
        </a:graphic>
      </p:graphicFrame>
      <p:sp>
        <p:nvSpPr>
          <p:cNvPr id="5" name="£228">
            <a:extLst xmlns:a="http://schemas.openxmlformats.org/drawingml/2006/main">
              <a:ext uri="{FF2B5EF4-FFF2-40B4-BE49-F238E27FC236}">
                <a16:creationId xmlns:a16="http://schemas.microsoft.com/office/drawing/2014/main" id="{A8D8E1A5-A3B5-4106-8D23-A1466FC39236}"/>
              </a:ext>
            </a:extLst>
          </p:cNvPr>
          <p:cNvSpPr>
            <a:spLocks xmlns:a="http://schemas.openxmlformats.org/drawingml/2006/main" noGrp="1"/>
          </p:cNvSpPr>
          <p:nvPr/>
        </p:nvSpPr>
        <p:spPr>
          <a:xfrm xmlns:a="http://schemas.openxmlformats.org/drawingml/2006/main">
            <a:off x="8086725" y="1809750"/>
            <a:ext cx="34861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44C3A"/>
                </a:solidFill>
                <a:latin typeface="Liberation Sans"/>
                <a:ea typeface="Liberation Sans"/>
                <a:cs typeface="Liberation Sans"/>
              </a:defRPr>
            </a:pPr>
            <a:r>
              <a:rPr sz="5700" b="1">
                <a:solidFill>
                  <a:srgbClr val="244C3A"/>
                </a:solidFill>
                <a:latin typeface="Liberation Sans"/>
                <a:ea typeface="Liberation Sans"/>
                <a:cs typeface="Liberation Sans"/>
              </a:rPr>
              <a:t>£228</a:t>
            </a:r>
          </a:p>
        </p:txBody>
      </p:sp>
      <p:sp>
        <p:nvSpPr>
          <p:cNvPr id="6" name="above £480 book cost">
            <a:extLst xmlns:a="http://schemas.openxmlformats.org/drawingml/2006/main">
              <a:ext uri="{FF2B5EF4-FFF2-40B4-BE49-F238E27FC236}">
                <a16:creationId xmlns:a16="http://schemas.microsoft.com/office/drawing/2014/main" id="{0DD6A824-AF42-45FD-A0CC-8FD3B8AA00C4}"/>
              </a:ext>
            </a:extLst>
          </p:cNvPr>
          <p:cNvSpPr>
            <a:spLocks xmlns:a="http://schemas.openxmlformats.org/drawingml/2006/main" noGrp="1"/>
          </p:cNvSpPr>
          <p:nvPr/>
        </p:nvSpPr>
        <p:spPr>
          <a:xfrm xmlns:a="http://schemas.openxmlformats.org/drawingml/2006/main">
            <a:off x="8143875" y="289560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17065"/>
                </a:solidFill>
                <a:latin typeface="Liberation Sans"/>
                <a:ea typeface="Liberation Sans"/>
                <a:cs typeface="Liberation Sans"/>
              </a:defRPr>
            </a:pPr>
            <a:r>
              <a:rPr sz="1950" b="0">
                <a:solidFill>
                  <a:srgbClr val="617065"/>
                </a:solidFill>
                <a:latin typeface="Liberation Sans"/>
                <a:ea typeface="Liberation Sans"/>
                <a:cs typeface="Liberation Sans"/>
              </a:rPr>
              <a:t>above £480 book cost</a:t>
            </a:r>
          </a:p>
        </p:txBody>
      </p:sp>
      <p:sp>
        <p:nvSpPr>
          <p:cNvPr id="7" name="">
            <a:extLst xmlns:a="http://schemas.openxmlformats.org/drawingml/2006/main">
              <a:ext uri="{FF2B5EF4-FFF2-40B4-BE49-F238E27FC236}">
                <a16:creationId xmlns:a16="http://schemas.microsoft.com/office/drawing/2014/main" id="{7173FB6A-F9DD-4D8C-9A1F-61C483B9EAD1}"/>
              </a:ext>
            </a:extLst>
          </p:cNvPr>
          <p:cNvSpPr>
            <a:spLocks xmlns:a="http://schemas.openxmlformats.org/drawingml/2006/main" noGrp="1"/>
          </p:cNvSpPr>
          <p:nvPr/>
        </p:nvSpPr>
        <p:spPr>
          <a:xfrm xmlns:a="http://schemas.openxmlformats.org/drawingml/2006/main">
            <a:off x="8115300" y="3848100"/>
            <a:ext cx="3276600" cy="0"/>
          </a:xfrm>
          <a:prstGeom xmlns:a="http://schemas.openxmlformats.org/drawingml/2006/main" prst="line">
            <a:avLst/>
          </a:prstGeom>
          <a:noFill xmlns:a="http://schemas.openxmlformats.org/drawingml/2006/main"/>
          <a:ln xmlns:a="http://schemas.openxmlformats.org/drawingml/2006/main" w="19050">
            <a:solidFill>
              <a:srgbClr val="D8DED5"/>
            </a:solidFill>
          </a:ln>
        </p:spPr>
      </p:sp>
      <p:sp>
        <p:nvSpPr>
          <p:cNvPr id="8" name="200 kg">
            <a:extLst xmlns:a="http://schemas.openxmlformats.org/drawingml/2006/main">
              <a:ext uri="{FF2B5EF4-FFF2-40B4-BE49-F238E27FC236}">
                <a16:creationId xmlns:a16="http://schemas.microsoft.com/office/drawing/2014/main" id="{6223FB51-986D-4112-ACBC-4D3E4C8C1852}"/>
              </a:ext>
            </a:extLst>
          </p:cNvPr>
          <p:cNvSpPr>
            <a:spLocks xmlns:a="http://schemas.openxmlformats.org/drawingml/2006/main" noGrp="1"/>
          </p:cNvSpPr>
          <p:nvPr/>
        </p:nvSpPr>
        <p:spPr>
          <a:xfrm xmlns:a="http://schemas.openxmlformats.org/drawingml/2006/main">
            <a:off x="8096250" y="4133850"/>
            <a:ext cx="342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DF865B"/>
                </a:solidFill>
                <a:latin typeface="Liberation Sans"/>
                <a:ea typeface="Liberation Sans"/>
                <a:cs typeface="Liberation Sans"/>
              </a:defRPr>
            </a:pPr>
            <a:r>
              <a:rPr sz="4350" b="1">
                <a:solidFill>
                  <a:srgbClr val="DF865B"/>
                </a:solidFill>
                <a:latin typeface="Liberation Sans"/>
                <a:ea typeface="Liberation Sans"/>
                <a:cs typeface="Liberation Sans"/>
              </a:rPr>
              <a:t>200 kg</a:t>
            </a:r>
          </a:p>
        </p:txBody>
      </p:sp>
      <p:sp>
        <p:nvSpPr>
          <p:cNvPr id="9" name="allocated to orders">
            <a:extLst xmlns:a="http://schemas.openxmlformats.org/drawingml/2006/main">
              <a:ext uri="{FF2B5EF4-FFF2-40B4-BE49-F238E27FC236}">
                <a16:creationId xmlns:a16="http://schemas.microsoft.com/office/drawing/2014/main" id="{3A6A0811-D56C-4C81-8C37-FFEAEB4D7B66}"/>
              </a:ext>
            </a:extLst>
          </p:cNvPr>
          <p:cNvSpPr>
            <a:spLocks xmlns:a="http://schemas.openxmlformats.org/drawingml/2006/main" noGrp="1"/>
          </p:cNvSpPr>
          <p:nvPr/>
        </p:nvSpPr>
        <p:spPr>
          <a:xfrm xmlns:a="http://schemas.openxmlformats.org/drawingml/2006/main">
            <a:off x="8143875" y="5000625"/>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065"/>
                </a:solidFill>
                <a:latin typeface="Liberation Sans"/>
                <a:ea typeface="Liberation Sans"/>
                <a:cs typeface="Liberation Sans"/>
              </a:defRPr>
            </a:pPr>
            <a:r>
              <a:rPr sz="1800" b="0">
                <a:solidFill>
                  <a:srgbClr val="617065"/>
                </a:solidFill>
                <a:latin typeface="Liberation Sans"/>
                <a:ea typeface="Liberation Sans"/>
                <a:cs typeface="Liberation Sans"/>
              </a:rPr>
              <a:t>allocated to orders</a:t>
            </a:r>
          </a:p>
        </p:txBody>
      </p:sp>
      <p:sp>
        <p:nvSpPr>
          <p:cNvPr id="10" name="Handling, transport and software reduce the spread. ">
            <a:extLst xmlns:a="http://schemas.openxmlformats.org/drawingml/2006/main">
              <a:ext uri="{FF2B5EF4-FFF2-40B4-BE49-F238E27FC236}">
                <a16:creationId xmlns:a16="http://schemas.microsoft.com/office/drawing/2014/main" id="{5FF791F1-F658-4D14-9B6E-9E29981AFCEF}"/>
              </a:ext>
            </a:extLst>
          </p:cNvPr>
          <p:cNvSpPr>
            <a:spLocks xmlns:a="http://schemas.openxmlformats.org/drawingml/2006/main" noGrp="1"/>
          </p:cNvSpPr>
          <p:nvPr/>
        </p:nvSpPr>
        <p:spPr>
          <a:xfrm xmlns:a="http://schemas.openxmlformats.org/drawingml/2006/main">
            <a:off x="657225" y="5743575"/>
            <a:ext cx="10829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065"/>
                </a:solidFill>
                <a:latin typeface="Liberation Sans"/>
                <a:ea typeface="Liberation Sans"/>
                <a:cs typeface="Liberation Sans"/>
              </a:defRPr>
            </a:pPr>
            <a:r>
              <a:rPr sz="1575" b="0">
                <a:solidFill>
                  <a:srgbClr val="617065"/>
                </a:solidFill>
                <a:latin typeface="Liberation Sans"/>
                <a:ea typeface="Liberation Sans"/>
                <a:cs typeface="Liberation Sans"/>
              </a:rPr>
              <a:t>Handling, transport and software reduce the spread. Booked sales are distinct from cash collected.</a:t>
            </a:r>
          </a:p>
        </p:txBody>
      </p:sp>
    </p:spTree>
    <p:extLst>
      <p:ext uri="{BB962C8B-B14F-4D97-AF65-F5344CB8AC3E}">
        <p14:creationId xmlns:p14="http://schemas.microsoft.com/office/powerpoint/2010/main" val="47859348"/>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The first buyer is a depot manager">
            <a:extLst xmlns:a="http://schemas.openxmlformats.org/drawingml/2006/main">
              <a:ext uri="{FF2B5EF4-FFF2-40B4-BE49-F238E27FC236}">
                <a16:creationId xmlns:a16="http://schemas.microsoft.com/office/drawing/2014/main" id="{9C129C30-BB96-4871-89B9-8D1B06B31686}"/>
              </a:ext>
            </a:extLst>
          </p:cNvPr>
          <p:cNvSpPr>
            <a:spLocks xmlns:a="http://schemas.openxmlformats.org/drawingml/2006/main" noGrp="1"/>
          </p:cNvSpPr>
          <p:nvPr/>
        </p:nvSpPr>
        <p:spPr>
          <a:xfrm xmlns:a="http://schemas.openxmlformats.org/drawingml/2006/main">
            <a:off x="609600" y="5334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4C3A"/>
                </a:solidFill>
                <a:latin typeface="Liberation Sans"/>
                <a:ea typeface="Liberation Sans"/>
                <a:cs typeface="Liberation Sans"/>
              </a:defRPr>
            </a:pPr>
            <a:r>
              <a:rPr sz="4050" b="1">
                <a:solidFill>
                  <a:srgbClr val="244C3A"/>
                </a:solidFill>
                <a:latin typeface="Liberation Sans"/>
                <a:ea typeface="Liberation Sans"/>
                <a:cs typeface="Liberation Sans"/>
              </a:rPr>
              <a:t>The first buyer is a depot manager</a:t>
            </a:r>
          </a:p>
        </p:txBody>
      </p:sp>
      <p:sp>
        <p:nvSpPr>
          <p:cNvPr id="2" name="SECONDCRATE">
            <a:extLst xmlns:a="http://schemas.openxmlformats.org/drawingml/2006/main">
              <a:ext uri="{FF2B5EF4-FFF2-40B4-BE49-F238E27FC236}">
                <a16:creationId xmlns:a16="http://schemas.microsoft.com/office/drawing/2014/main" id="{0074EC63-1026-46C4-B7A0-D60541F2C144}"/>
              </a:ext>
            </a:extLst>
          </p:cNvPr>
          <p:cNvSpPr>
            <a:spLocks xmlns:a="http://schemas.openxmlformats.org/drawingml/2006/main" noGrp="1"/>
          </p:cNvSpPr>
          <p:nvPr/>
        </p:nvSpPr>
        <p:spPr>
          <a:xfrm xmlns:a="http://schemas.openxmlformats.org/drawingml/2006/main">
            <a:off x="609600" y="64198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17065"/>
                </a:solidFill>
                <a:latin typeface="Liberation Sans"/>
                <a:ea typeface="Liberation Sans"/>
                <a:cs typeface="Liberation Sans"/>
              </a:defRPr>
            </a:pPr>
            <a:r>
              <a:rPr sz="1125" b="1">
                <a:solidFill>
                  <a:srgbClr val="617065"/>
                </a:solidFill>
                <a:latin typeface="Liberation Sans"/>
                <a:ea typeface="Liberation Sans"/>
                <a:cs typeface="Liberation Sans"/>
              </a:rPr>
              <a:t>SECONDCRATE</a:t>
            </a:r>
          </a:p>
        </p:txBody>
      </p:sp>
      <p:sp>
        <p:nvSpPr>
          <p:cNvPr id="3" name="07">
            <a:extLst xmlns:a="http://schemas.openxmlformats.org/drawingml/2006/main">
              <a:ext uri="{FF2B5EF4-FFF2-40B4-BE49-F238E27FC236}">
                <a16:creationId xmlns:a16="http://schemas.microsoft.com/office/drawing/2014/main" id="{E05F23C1-B4F2-4F7D-A910-C1A10500E379}"/>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17065"/>
                </a:solidFill>
                <a:latin typeface="Liberation Sans"/>
                <a:ea typeface="Liberation Sans"/>
                <a:cs typeface="Liberation Sans"/>
              </a:defRPr>
            </a:pPr>
            <a:r>
              <a:rPr sz="1125" b="0">
                <a:solidFill>
                  <a:srgbClr val="617065"/>
                </a:solidFill>
                <a:latin typeface="Liberation Sans"/>
                <a:ea typeface="Liberation Sans"/>
                <a:cs typeface="Liberation Sans"/>
              </a:rPr>
              <a:t>07</a:t>
            </a:r>
          </a:p>
        </p:txBody>
      </p:sp>
      <p:sp>
        <p:nvSpPr>
          <p:cNvPr id="4" name="One depot. Existing buyers.&#10;A missed order to recove">
            <a:extLst xmlns:a="http://schemas.openxmlformats.org/drawingml/2006/main">
              <a:ext uri="{FF2B5EF4-FFF2-40B4-BE49-F238E27FC236}">
                <a16:creationId xmlns:a16="http://schemas.microsoft.com/office/drawing/2014/main" id="{DFB234BE-1D2B-4B3C-9DE9-12D2329A482D}"/>
              </a:ext>
            </a:extLst>
          </p:cNvPr>
          <p:cNvSpPr>
            <a:spLocks xmlns:a="http://schemas.openxmlformats.org/drawingml/2006/main" noGrp="1"/>
          </p:cNvSpPr>
          <p:nvPr/>
        </p:nvSpPr>
        <p:spPr>
          <a:xfrm xmlns:a="http://schemas.openxmlformats.org/drawingml/2006/main">
            <a:off x="657225" y="1752600"/>
            <a:ext cx="60579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44C3A"/>
                </a:solidFill>
                <a:latin typeface="Liberation Sans"/>
                <a:ea typeface="Liberation Sans"/>
                <a:cs typeface="Liberation Sans"/>
              </a:defRPr>
            </a:pPr>
            <a:r>
              <a:rPr sz="3225" b="1">
                <a:solidFill>
                  <a:srgbClr val="244C3A"/>
                </a:solidFill>
                <a:latin typeface="Liberation Sans"/>
                <a:ea typeface="Liberation Sans"/>
                <a:cs typeface="Liberation Sans"/>
              </a:rPr>
              <a:t>One depot. Existing buyers.</a:t>
            </a:r>
          </a:p>
          <a:p xmlns:a="http://schemas.openxmlformats.org/drawingml/2006/main">
            <a:pPr>
              <a:defRPr sz="3225" b="1">
                <a:solidFill>
                  <a:srgbClr val="244C3A"/>
                </a:solidFill>
                <a:latin typeface="Liberation Sans"/>
                <a:ea typeface="Liberation Sans"/>
                <a:cs typeface="Liberation Sans"/>
              </a:defRPr>
            </a:pPr>
            <a:r>
              <a:rPr sz="3225" b="1">
                <a:solidFill>
                  <a:srgbClr val="244C3A"/>
                </a:solidFill>
                <a:latin typeface="Liberation Sans"/>
                <a:ea typeface="Liberation Sans"/>
                <a:cs typeface="Liberation Sans"/>
              </a:rPr>
              <a:t>A missed order to recover.</a:t>
            </a:r>
          </a:p>
        </p:txBody>
      </p:sp>
      <p:sp>
        <p:nvSpPr>
          <p:cNvPr id="5" name="A proposed £299 monthly subscription">
            <a:extLst xmlns:a="http://schemas.openxmlformats.org/drawingml/2006/main">
              <a:ext uri="{FF2B5EF4-FFF2-40B4-BE49-F238E27FC236}">
                <a16:creationId xmlns:a16="http://schemas.microsoft.com/office/drawing/2014/main" id="{CEE02219-0DA6-40A7-BD23-88355FB32753}"/>
              </a:ext>
            </a:extLst>
          </p:cNvPr>
          <p:cNvSpPr>
            <a:spLocks xmlns:a="http://schemas.openxmlformats.org/drawingml/2006/main" noGrp="1"/>
          </p:cNvSpPr>
          <p:nvPr/>
        </p:nvSpPr>
        <p:spPr>
          <a:xfrm xmlns:a="http://schemas.openxmlformats.org/drawingml/2006/main">
            <a:off x="685800" y="3571875"/>
            <a:ext cx="6181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C3A"/>
                </a:solidFill>
                <a:latin typeface="Liberation Sans"/>
                <a:ea typeface="Liberation Sans"/>
                <a:cs typeface="Liberation Sans"/>
              </a:defRPr>
            </a:pPr>
            <a:r>
              <a:rPr sz="2175" b="1">
                <a:solidFill>
                  <a:srgbClr val="244C3A"/>
                </a:solidFill>
                <a:latin typeface="Liberation Sans"/>
                <a:ea typeface="Liberation Sans"/>
                <a:cs typeface="Liberation Sans"/>
              </a:rPr>
              <a:t>A proposed £299 monthly subscription</a:t>
            </a:r>
          </a:p>
        </p:txBody>
      </p:sp>
      <p:sp>
        <p:nvSpPr>
          <p:cNvPr id="6" name="60 additional crates at £5 contribution&#10;would cover ">
            <a:extLst xmlns:a="http://schemas.openxmlformats.org/drawingml/2006/main">
              <a:ext uri="{FF2B5EF4-FFF2-40B4-BE49-F238E27FC236}">
                <a16:creationId xmlns:a16="http://schemas.microsoft.com/office/drawing/2014/main" id="{3661A51B-D905-4BEC-B140-75EDE850EB92}"/>
              </a:ext>
            </a:extLst>
          </p:cNvPr>
          <p:cNvSpPr>
            <a:spLocks xmlns:a="http://schemas.openxmlformats.org/drawingml/2006/main" noGrp="1"/>
          </p:cNvSpPr>
          <p:nvPr/>
        </p:nvSpPr>
        <p:spPr>
          <a:xfrm xmlns:a="http://schemas.openxmlformats.org/drawingml/2006/main">
            <a:off x="685800" y="4381500"/>
            <a:ext cx="6143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17065"/>
                </a:solidFill>
                <a:latin typeface="Liberation Sans"/>
                <a:ea typeface="Liberation Sans"/>
                <a:cs typeface="Liberation Sans"/>
              </a:defRPr>
            </a:pPr>
            <a:r>
              <a:rPr sz="2175" b="0">
                <a:solidFill>
                  <a:srgbClr val="617065"/>
                </a:solidFill>
                <a:latin typeface="Liberation Sans"/>
                <a:ea typeface="Liberation Sans"/>
                <a:cs typeface="Liberation Sans"/>
              </a:rPr>
              <a:t>60 additional crates at £5 contribution</a:t>
            </a:r>
          </a:p>
          <a:p xmlns:a="http://schemas.openxmlformats.org/drawingml/2006/main">
            <a:pPr>
              <a:defRPr sz="2175" b="0">
                <a:solidFill>
                  <a:srgbClr val="617065"/>
                </a:solidFill>
                <a:latin typeface="Liberation Sans"/>
                <a:ea typeface="Liberation Sans"/>
                <a:cs typeface="Liberation Sans"/>
              </a:defRPr>
            </a:pPr>
            <a:r>
              <a:rPr sz="2175" b="0">
                <a:solidFill>
                  <a:srgbClr val="617065"/>
                </a:solidFill>
                <a:latin typeface="Liberation Sans"/>
                <a:ea typeface="Liberation Sans"/>
                <a:cs typeface="Liberation Sans"/>
              </a:rPr>
              <a:t>would cover the monthly price.</a:t>
            </a:r>
          </a:p>
        </p:txBody>
      </p:sp>
      <p:sp>
        <p:nvSpPr>
          <p:cNvPr id="7" name="191,000">
            <a:extLst xmlns:a="http://schemas.openxmlformats.org/drawingml/2006/main">
              <a:ext uri="{FF2B5EF4-FFF2-40B4-BE49-F238E27FC236}">
                <a16:creationId xmlns:a16="http://schemas.microsoft.com/office/drawing/2014/main" id="{94F880A7-7637-44FA-ADEF-1C5724135490}"/>
              </a:ext>
            </a:extLst>
          </p:cNvPr>
          <p:cNvSpPr>
            <a:spLocks xmlns:a="http://schemas.openxmlformats.org/drawingml/2006/main" noGrp="1"/>
          </p:cNvSpPr>
          <p:nvPr/>
        </p:nvSpPr>
        <p:spPr>
          <a:xfrm xmlns:a="http://schemas.openxmlformats.org/drawingml/2006/main">
            <a:off x="7867650" y="1847850"/>
            <a:ext cx="38290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F865B"/>
                </a:solidFill>
                <a:latin typeface="Liberation Sans"/>
                <a:ea typeface="Liberation Sans"/>
                <a:cs typeface="Liberation Sans"/>
              </a:defRPr>
            </a:pPr>
            <a:r>
              <a:rPr sz="5100" b="1">
                <a:solidFill>
                  <a:srgbClr val="DF865B"/>
                </a:solidFill>
                <a:latin typeface="Liberation Sans"/>
                <a:ea typeface="Liberation Sans"/>
                <a:cs typeface="Liberation Sans"/>
              </a:rPr>
              <a:t>191,000</a:t>
            </a:r>
          </a:p>
        </p:txBody>
      </p:sp>
      <p:sp>
        <p:nvSpPr>
          <p:cNvPr id="8" name="tonnes redistributed&#10;in the UK in 2023">
            <a:extLst xmlns:a="http://schemas.openxmlformats.org/drawingml/2006/main">
              <a:ext uri="{FF2B5EF4-FFF2-40B4-BE49-F238E27FC236}">
                <a16:creationId xmlns:a16="http://schemas.microsoft.com/office/drawing/2014/main" id="{D6C29A94-075C-4DB8-B0B7-7CA1498100A5}"/>
              </a:ext>
            </a:extLst>
          </p:cNvPr>
          <p:cNvSpPr>
            <a:spLocks xmlns:a="http://schemas.openxmlformats.org/drawingml/2006/main" noGrp="1"/>
          </p:cNvSpPr>
          <p:nvPr/>
        </p:nvSpPr>
        <p:spPr>
          <a:xfrm xmlns:a="http://schemas.openxmlformats.org/drawingml/2006/main">
            <a:off x="7924800" y="3000375"/>
            <a:ext cx="3400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4C3A"/>
                </a:solidFill>
                <a:latin typeface="Liberation Sans"/>
                <a:ea typeface="Liberation Sans"/>
                <a:cs typeface="Liberation Sans"/>
              </a:defRPr>
            </a:pPr>
            <a:r>
              <a:rPr sz="2100" b="1">
                <a:solidFill>
                  <a:srgbClr val="244C3A"/>
                </a:solidFill>
                <a:latin typeface="Liberation Sans"/>
                <a:ea typeface="Liberation Sans"/>
                <a:cs typeface="Liberation Sans"/>
              </a:rPr>
              <a:t>tonnes redistributed</a:t>
            </a:r>
          </a:p>
          <a:p xmlns:a="http://schemas.openxmlformats.org/drawingml/2006/main">
            <a:pPr>
              <a:defRPr sz="2100" b="1">
                <a:solidFill>
                  <a:srgbClr val="244C3A"/>
                </a:solidFill>
                <a:latin typeface="Liberation Sans"/>
                <a:ea typeface="Liberation Sans"/>
                <a:cs typeface="Liberation Sans"/>
              </a:defRPr>
            </a:pPr>
            <a:r>
              <a:rPr sz="2100" b="1">
                <a:solidFill>
                  <a:srgbClr val="244C3A"/>
                </a:solidFill>
                <a:latin typeface="Liberation Sans"/>
                <a:ea typeface="Liberation Sans"/>
                <a:cs typeface="Liberation Sans"/>
              </a:rPr>
              <a:t>in the UK in 2023</a:t>
            </a:r>
          </a:p>
        </p:txBody>
      </p:sp>
      <p:sp>
        <p:nvSpPr>
          <p:cNvPr id="9" name="WRAP redistribution survey [1]">
            <a:extLst xmlns:a="http://schemas.openxmlformats.org/drawingml/2006/main">
              <a:ext uri="{FF2B5EF4-FFF2-40B4-BE49-F238E27FC236}">
                <a16:creationId xmlns:a16="http://schemas.microsoft.com/office/drawing/2014/main" id="{CAAA20BE-7DAC-4052-9043-B3ED764E3B7A}"/>
              </a:ext>
            </a:extLst>
          </p:cNvPr>
          <p:cNvSpPr>
            <a:spLocks xmlns:a="http://schemas.openxmlformats.org/drawingml/2006/main" noGrp="1"/>
          </p:cNvSpPr>
          <p:nvPr/>
        </p:nvSpPr>
        <p:spPr>
          <a:xfrm xmlns:a="http://schemas.openxmlformats.org/drawingml/2006/main">
            <a:off x="7924800" y="4095750"/>
            <a:ext cx="342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065"/>
                </a:solidFill>
                <a:latin typeface="Liberation Sans"/>
                <a:ea typeface="Liberation Sans"/>
                <a:cs typeface="Liberation Sans"/>
              </a:defRPr>
            </a:pPr>
            <a:r>
              <a:rPr sz="1350" b="0">
                <a:solidFill>
                  <a:srgbClr val="617065"/>
                </a:solidFill>
                <a:latin typeface="Liberation Sans"/>
                <a:ea typeface="Liberation Sans"/>
                <a:cs typeface="Liberation Sans"/>
              </a:rPr>
              <a:t>WRAP redistribution survey [1]</a:t>
            </a:r>
          </a:p>
        </p:txBody>
      </p:sp>
      <p:sp>
        <p:nvSpPr>
          <p:cNvPr id="10" name="Choco handles wholesale ordering. Too Good To Go sel">
            <a:extLst xmlns:a="http://schemas.openxmlformats.org/drawingml/2006/main">
              <a:ext uri="{FF2B5EF4-FFF2-40B4-BE49-F238E27FC236}">
                <a16:creationId xmlns:a16="http://schemas.microsoft.com/office/drawing/2014/main" id="{E636F022-795C-48E9-967B-383F71C48731}"/>
              </a:ext>
            </a:extLst>
          </p:cNvPr>
          <p:cNvSpPr>
            <a:spLocks xmlns:a="http://schemas.openxmlformats.org/drawingml/2006/main" noGrp="1"/>
          </p:cNvSpPr>
          <p:nvPr/>
        </p:nvSpPr>
        <p:spPr>
          <a:xfrm xmlns:a="http://schemas.openxmlformats.org/drawingml/2006/main">
            <a:off x="685800" y="53530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065"/>
                </a:solidFill>
                <a:latin typeface="Liberation Sans"/>
                <a:ea typeface="Liberation Sans"/>
                <a:cs typeface="Liberation Sans"/>
              </a:defRPr>
            </a:pPr>
            <a:r>
              <a:rPr sz="1575" b="0">
                <a:solidFill>
                  <a:srgbClr val="617065"/>
                </a:solidFill>
                <a:latin typeface="Liberation Sans"/>
                <a:ea typeface="Liberation Sans"/>
                <a:cs typeface="Liberation Sans"/>
              </a:rPr>
              <a:t>Choco handles wholesale ordering. Too Good To Go sells surplus to consumers.</a:t>
            </a:r>
          </a:p>
          <a:p xmlns:a="http://schemas.openxmlformats.org/drawingml/2006/main">
            <a:pPr>
              <a:defRPr sz="1575" b="0">
                <a:solidFill>
                  <a:srgbClr val="617065"/>
                </a:solidFill>
                <a:latin typeface="Liberation Sans"/>
                <a:ea typeface="Liberation Sans"/>
                <a:cs typeface="Liberation Sans"/>
              </a:defRPr>
            </a:pPr>
            <a:r>
              <a:rPr sz="1575" b="0">
                <a:solidFill>
                  <a:srgbClr val="617065"/>
                </a:solidFill>
                <a:latin typeface="Liberation Sans"/>
                <a:ea typeface="Liberation Sans"/>
                <a:cs typeface="Liberation Sans"/>
              </a:rPr>
              <a:t>SecondCrate focuses on cancellation recovery within an existing B2B network. [2, 3]</a:t>
            </a:r>
          </a:p>
        </p:txBody>
      </p:sp>
      <p:sp>
        <p:nvSpPr>
          <p:cNvPr id="11" name="Sources: [1] WRAP, 2023 survey. [2] Choco OrderAgent">
            <a:extLst xmlns:a="http://schemas.openxmlformats.org/drawingml/2006/main">
              <a:ext uri="{FF2B5EF4-FFF2-40B4-BE49-F238E27FC236}">
                <a16:creationId xmlns:a16="http://schemas.microsoft.com/office/drawing/2014/main" id="{6522AB59-3B35-4D21-A8C5-FBFC67D32662}"/>
              </a:ext>
            </a:extLst>
          </p:cNvPr>
          <p:cNvSpPr>
            <a:spLocks xmlns:a="http://schemas.openxmlformats.org/drawingml/2006/main" noGrp="1"/>
          </p:cNvSpPr>
          <p:nvPr/>
        </p:nvSpPr>
        <p:spPr>
          <a:xfrm xmlns:a="http://schemas.openxmlformats.org/drawingml/2006/main">
            <a:off x="685800" y="6086475"/>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17065"/>
                </a:solidFill>
                <a:latin typeface="Liberation Sans"/>
                <a:ea typeface="Liberation Sans"/>
                <a:cs typeface="Liberation Sans"/>
              </a:defRPr>
            </a:pPr>
            <a:r>
              <a:rPr sz="1125" b="0">
                <a:solidFill>
                  <a:srgbClr val="617065"/>
                </a:solidFill>
                <a:latin typeface="Liberation Sans"/>
                <a:ea typeface="Liberation Sans"/>
                <a:cs typeface="Liberation Sans"/>
              </a:rPr>
              <a:t>Sources: [1] WRAP, 2023 survey. [2] Choco OrderAgent, July 2026. [3] Too Good To Go Parcels.</a:t>
            </a:r>
          </a:p>
        </p:txBody>
      </p:sp>
    </p:spTree>
    <p:extLst>
      <p:ext uri="{BB962C8B-B14F-4D97-AF65-F5344CB8AC3E}">
        <p14:creationId xmlns:p14="http://schemas.microsoft.com/office/powerpoint/2010/main" val="1575695397"/>
      </p:ext>
    </p:extLst>
  </p:cSld>
</p:sld>
</file>

<file path=ppt/slides/slide8.xml><?xml version="1.0" encoding="utf-8"?>
<p:sld xmlns:p="http://schemas.openxmlformats.org/presentationml/2006/main">
  <p:cSld>
    <p:bg>
      <p:bgPr>
        <a:solidFill xmlns:a="http://schemas.openxmlformats.org/drawingml/2006/main">
          <a:srgbClr val="244C3A"/>
        </a:solidFill>
      </p:bgPr>
    </p:bg>
    <p:spTree>
      <p:nvGrpSpPr>
        <p:cNvPr id="1" name=""/>
        <p:cNvGrpSpPr/>
        <p:nvPr/>
      </p:nvGrpSpPr>
      <p:grpSpPr>
        <a:xfrm xmlns:a="http://schemas.openxmlformats.org/drawingml/2006/main"/>
      </p:grpSpPr>
      <p:sp>
        <p:nvSpPr>
          <p:cNvPr id="12" name="A paid pilot will test the business case">
            <a:extLst xmlns:a="http://schemas.openxmlformats.org/drawingml/2006/main">
              <a:ext uri="{FF2B5EF4-FFF2-40B4-BE49-F238E27FC236}">
                <a16:creationId xmlns:a16="http://schemas.microsoft.com/office/drawing/2014/main" id="{BE43B066-D555-4BFE-A2CA-14FCA5F2035D}"/>
              </a:ext>
            </a:extLst>
          </p:cNvPr>
          <p:cNvSpPr>
            <a:spLocks xmlns:a="http://schemas.openxmlformats.org/drawingml/2006/main" noGrp="1"/>
          </p:cNvSpPr>
          <p:nvPr/>
        </p:nvSpPr>
        <p:spPr>
          <a:xfrm xmlns:a="http://schemas.openxmlformats.org/drawingml/2006/main">
            <a:off x="609600" y="53340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7F8F5"/>
                </a:solidFill>
                <a:latin typeface="Liberation Sans"/>
                <a:ea typeface="Liberation Sans"/>
                <a:cs typeface="Liberation Sans"/>
              </a:defRPr>
            </a:pPr>
            <a:r>
              <a:rPr sz="4050" b="1">
                <a:solidFill>
                  <a:srgbClr val="F7F8F5"/>
                </a:solidFill>
                <a:latin typeface="Liberation Sans"/>
                <a:ea typeface="Liberation Sans"/>
                <a:cs typeface="Liberation Sans"/>
              </a:rPr>
              <a:t>A paid pilot will test the business case</a:t>
            </a:r>
          </a:p>
        </p:txBody>
      </p:sp>
      <p:sp>
        <p:nvSpPr>
          <p:cNvPr id="2" name="SECONDCRATE">
            <a:extLst xmlns:a="http://schemas.openxmlformats.org/drawingml/2006/main">
              <a:ext uri="{FF2B5EF4-FFF2-40B4-BE49-F238E27FC236}">
                <a16:creationId xmlns:a16="http://schemas.microsoft.com/office/drawing/2014/main" id="{F1A88FFC-4D4D-4834-8C10-7768A5E73AA9}"/>
              </a:ext>
            </a:extLst>
          </p:cNvPr>
          <p:cNvSpPr>
            <a:spLocks xmlns:a="http://schemas.openxmlformats.org/drawingml/2006/main" noGrp="1"/>
          </p:cNvSpPr>
          <p:nvPr/>
        </p:nvSpPr>
        <p:spPr>
          <a:xfrm xmlns:a="http://schemas.openxmlformats.org/drawingml/2006/main">
            <a:off x="609600" y="64198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4E9A8"/>
                </a:solidFill>
                <a:latin typeface="Liberation Sans"/>
                <a:ea typeface="Liberation Sans"/>
                <a:cs typeface="Liberation Sans"/>
              </a:defRPr>
            </a:pPr>
            <a:r>
              <a:rPr sz="1125" b="1">
                <a:solidFill>
                  <a:srgbClr val="D4E9A8"/>
                </a:solidFill>
                <a:latin typeface="Liberation Sans"/>
                <a:ea typeface="Liberation Sans"/>
                <a:cs typeface="Liberation Sans"/>
              </a:rPr>
              <a:t>SECONDCRATE</a:t>
            </a:r>
          </a:p>
        </p:txBody>
      </p:sp>
      <p:sp>
        <p:nvSpPr>
          <p:cNvPr id="3" name="08">
            <a:extLst xmlns:a="http://schemas.openxmlformats.org/drawingml/2006/main">
              <a:ext uri="{FF2B5EF4-FFF2-40B4-BE49-F238E27FC236}">
                <a16:creationId xmlns:a16="http://schemas.microsoft.com/office/drawing/2014/main" id="{7E3DB26C-556E-4CC8-9894-3363F3A93CDF}"/>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E9A8"/>
                </a:solidFill>
                <a:latin typeface="Liberation Sans"/>
                <a:ea typeface="Liberation Sans"/>
                <a:cs typeface="Liberation Sans"/>
              </a:defRPr>
            </a:pPr>
            <a:r>
              <a:rPr sz="1125" b="0">
                <a:solidFill>
                  <a:srgbClr val="D4E9A8"/>
                </a:solidFill>
                <a:latin typeface="Liberation Sans"/>
                <a:ea typeface="Liberation Sans"/>
                <a:cs typeface="Liberation Sans"/>
              </a:rPr>
              <a:t>08</a:t>
            </a:r>
          </a:p>
        </p:txBody>
      </p:sp>
      <p:sp>
        <p:nvSpPr>
          <p:cNvPr id="4" name="01">
            <a:extLst xmlns:a="http://schemas.openxmlformats.org/drawingml/2006/main">
              <a:ext uri="{FF2B5EF4-FFF2-40B4-BE49-F238E27FC236}">
                <a16:creationId xmlns:a16="http://schemas.microsoft.com/office/drawing/2014/main" id="{E3EDD4B9-9E60-4E5D-9028-7260738E7624}"/>
              </a:ext>
            </a:extLst>
          </p:cNvPr>
          <p:cNvSpPr>
            <a:spLocks xmlns:a="http://schemas.openxmlformats.org/drawingml/2006/main" noGrp="1"/>
          </p:cNvSpPr>
          <p:nvPr/>
        </p:nvSpPr>
        <p:spPr>
          <a:xfrm xmlns:a="http://schemas.openxmlformats.org/drawingml/2006/main">
            <a:off x="666750" y="1876425"/>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D4E9A8"/>
                </a:solidFill>
                <a:latin typeface="Liberation Sans"/>
                <a:ea typeface="Liberation Sans"/>
                <a:cs typeface="Liberation Sans"/>
              </a:defRPr>
            </a:pPr>
            <a:r>
              <a:rPr sz="3750" b="1">
                <a:solidFill>
                  <a:srgbClr val="D4E9A8"/>
                </a:solidFill>
                <a:latin typeface="Liberation Sans"/>
                <a:ea typeface="Liberation Sans"/>
                <a:cs typeface="Liberation Sans"/>
              </a:rPr>
              <a:t>01</a:t>
            </a:r>
          </a:p>
        </p:txBody>
      </p:sp>
      <p:sp>
        <p:nvSpPr>
          <p:cNvPr id="5" name="Understand the last three cancellations">
            <a:extLst xmlns:a="http://schemas.openxmlformats.org/drawingml/2006/main">
              <a:ext uri="{FF2B5EF4-FFF2-40B4-BE49-F238E27FC236}">
                <a16:creationId xmlns:a16="http://schemas.microsoft.com/office/drawing/2014/main" id="{27393D4F-1AB1-4EF2-98CC-03707BB7E43D}"/>
              </a:ext>
            </a:extLst>
          </p:cNvPr>
          <p:cNvSpPr>
            <a:spLocks xmlns:a="http://schemas.openxmlformats.org/drawingml/2006/main" noGrp="1"/>
          </p:cNvSpPr>
          <p:nvPr/>
        </p:nvSpPr>
        <p:spPr>
          <a:xfrm xmlns:a="http://schemas.openxmlformats.org/drawingml/2006/main">
            <a:off x="2209800" y="1971675"/>
            <a:ext cx="9258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7F8F5"/>
                </a:solidFill>
                <a:latin typeface="Liberation Sans"/>
                <a:ea typeface="Liberation Sans"/>
                <a:cs typeface="Liberation Sans"/>
              </a:defRPr>
            </a:pPr>
            <a:r>
              <a:rPr sz="2400" b="1">
                <a:solidFill>
                  <a:srgbClr val="F7F8F5"/>
                </a:solidFill>
                <a:latin typeface="Liberation Sans"/>
                <a:ea typeface="Liberation Sans"/>
                <a:cs typeface="Liberation Sans"/>
              </a:rPr>
              <a:t>Understand the last three cancellations</a:t>
            </a:r>
          </a:p>
        </p:txBody>
      </p:sp>
      <p:sp>
        <p:nvSpPr>
          <p:cNvPr id="6" name="02">
            <a:extLst xmlns:a="http://schemas.openxmlformats.org/drawingml/2006/main">
              <a:ext uri="{FF2B5EF4-FFF2-40B4-BE49-F238E27FC236}">
                <a16:creationId xmlns:a16="http://schemas.microsoft.com/office/drawing/2014/main" id="{FAD817F5-AF5E-476B-A937-D618964E68E8}"/>
              </a:ext>
            </a:extLst>
          </p:cNvPr>
          <p:cNvSpPr>
            <a:spLocks xmlns:a="http://schemas.openxmlformats.org/drawingml/2006/main" noGrp="1"/>
          </p:cNvSpPr>
          <p:nvPr/>
        </p:nvSpPr>
        <p:spPr>
          <a:xfrm xmlns:a="http://schemas.openxmlformats.org/drawingml/2006/main">
            <a:off x="666750" y="3076575"/>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D4E9A8"/>
                </a:solidFill>
                <a:latin typeface="Liberation Sans"/>
                <a:ea typeface="Liberation Sans"/>
                <a:cs typeface="Liberation Sans"/>
              </a:defRPr>
            </a:pPr>
            <a:r>
              <a:rPr sz="3750" b="1">
                <a:solidFill>
                  <a:srgbClr val="D4E9A8"/>
                </a:solidFill>
                <a:latin typeface="Liberation Sans"/>
                <a:ea typeface="Liberation Sans"/>
                <a:cs typeface="Liberation Sans"/>
              </a:rPr>
              <a:t>02</a:t>
            </a:r>
          </a:p>
        </p:txBody>
      </p:sp>
      <p:sp>
        <p:nvSpPr>
          <p:cNvPr id="7" name="Measure two weeks of the current process">
            <a:extLst xmlns:a="http://schemas.openxmlformats.org/drawingml/2006/main">
              <a:ext uri="{FF2B5EF4-FFF2-40B4-BE49-F238E27FC236}">
                <a16:creationId xmlns:a16="http://schemas.microsoft.com/office/drawing/2014/main" id="{1E491911-4F60-4127-95B2-BFD70C6173AD}"/>
              </a:ext>
            </a:extLst>
          </p:cNvPr>
          <p:cNvSpPr>
            <a:spLocks xmlns:a="http://schemas.openxmlformats.org/drawingml/2006/main" noGrp="1"/>
          </p:cNvSpPr>
          <p:nvPr/>
        </p:nvSpPr>
        <p:spPr>
          <a:xfrm xmlns:a="http://schemas.openxmlformats.org/drawingml/2006/main">
            <a:off x="2209800" y="3171825"/>
            <a:ext cx="9258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7F8F5"/>
                </a:solidFill>
                <a:latin typeface="Liberation Sans"/>
                <a:ea typeface="Liberation Sans"/>
                <a:cs typeface="Liberation Sans"/>
              </a:defRPr>
            </a:pPr>
            <a:r>
              <a:rPr sz="2400" b="1">
                <a:solidFill>
                  <a:srgbClr val="F7F8F5"/>
                </a:solidFill>
                <a:latin typeface="Liberation Sans"/>
                <a:ea typeface="Liberation Sans"/>
                <a:cs typeface="Liberation Sans"/>
              </a:rPr>
              <a:t>Measure two weeks of the current process</a:t>
            </a:r>
          </a:p>
        </p:txBody>
      </p:sp>
      <p:sp>
        <p:nvSpPr>
          <p:cNvPr id="8" name="03">
            <a:extLst xmlns:a="http://schemas.openxmlformats.org/drawingml/2006/main">
              <a:ext uri="{FF2B5EF4-FFF2-40B4-BE49-F238E27FC236}">
                <a16:creationId xmlns:a16="http://schemas.microsoft.com/office/drawing/2014/main" id="{CC76E3B8-4FA5-48A1-9815-688F4121DBDC}"/>
              </a:ext>
            </a:extLst>
          </p:cNvPr>
          <p:cNvSpPr>
            <a:spLocks xmlns:a="http://schemas.openxmlformats.org/drawingml/2006/main" noGrp="1"/>
          </p:cNvSpPr>
          <p:nvPr/>
        </p:nvSpPr>
        <p:spPr>
          <a:xfrm xmlns:a="http://schemas.openxmlformats.org/drawingml/2006/main">
            <a:off x="666750" y="4276725"/>
            <a:ext cx="142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D4E9A8"/>
                </a:solidFill>
                <a:latin typeface="Liberation Sans"/>
                <a:ea typeface="Liberation Sans"/>
                <a:cs typeface="Liberation Sans"/>
              </a:defRPr>
            </a:pPr>
            <a:r>
              <a:rPr sz="3750" b="1">
                <a:solidFill>
                  <a:srgbClr val="D4E9A8"/>
                </a:solidFill>
                <a:latin typeface="Liberation Sans"/>
                <a:ea typeface="Liberation Sans"/>
                <a:cs typeface="Liberation Sans"/>
              </a:rPr>
              <a:t>03</a:t>
            </a:r>
          </a:p>
        </p:txBody>
      </p:sp>
      <p:sp>
        <p:nvSpPr>
          <p:cNvPr id="9" name="Run a four-week paid pilot at three depots">
            <a:extLst xmlns:a="http://schemas.openxmlformats.org/drawingml/2006/main">
              <a:ext uri="{FF2B5EF4-FFF2-40B4-BE49-F238E27FC236}">
                <a16:creationId xmlns:a16="http://schemas.microsoft.com/office/drawing/2014/main" id="{0BE5EB89-E15D-4A0F-93A3-B40ED4714C7A}"/>
              </a:ext>
            </a:extLst>
          </p:cNvPr>
          <p:cNvSpPr>
            <a:spLocks xmlns:a="http://schemas.openxmlformats.org/drawingml/2006/main" noGrp="1"/>
          </p:cNvSpPr>
          <p:nvPr/>
        </p:nvSpPr>
        <p:spPr>
          <a:xfrm xmlns:a="http://schemas.openxmlformats.org/drawingml/2006/main">
            <a:off x="2209800" y="4371975"/>
            <a:ext cx="9258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7F8F5"/>
                </a:solidFill>
                <a:latin typeface="Liberation Sans"/>
                <a:ea typeface="Liberation Sans"/>
                <a:cs typeface="Liberation Sans"/>
              </a:defRPr>
            </a:pPr>
            <a:r>
              <a:rPr sz="2400" b="1">
                <a:solidFill>
                  <a:srgbClr val="F7F8F5"/>
                </a:solidFill>
                <a:latin typeface="Liberation Sans"/>
                <a:ea typeface="Liberation Sans"/>
                <a:cs typeface="Liberation Sans"/>
              </a:rPr>
              <a:t>Run a four-week paid pilot at three depots</a:t>
            </a:r>
          </a:p>
        </p:txBody>
      </p:sp>
      <p:sp>
        <p:nvSpPr>
          <p:cNvPr id="10" name="Renewal and incremental contribution decide what hap">
            <a:extLst xmlns:a="http://schemas.openxmlformats.org/drawingml/2006/main">
              <a:ext uri="{FF2B5EF4-FFF2-40B4-BE49-F238E27FC236}">
                <a16:creationId xmlns:a16="http://schemas.microsoft.com/office/drawing/2014/main" id="{6860F7CC-AD35-4FDA-977C-F1B2087EB0F0}"/>
              </a:ext>
            </a:extLst>
          </p:cNvPr>
          <p:cNvSpPr>
            <a:spLocks xmlns:a="http://schemas.openxmlformats.org/drawingml/2006/main" noGrp="1"/>
          </p:cNvSpPr>
          <p:nvPr/>
        </p:nvSpPr>
        <p:spPr>
          <a:xfrm xmlns:a="http://schemas.openxmlformats.org/drawingml/2006/main">
            <a:off x="676275" y="54864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D4E9A8"/>
                </a:solidFill>
                <a:latin typeface="Liberation Sans"/>
                <a:ea typeface="Liberation Sans"/>
                <a:cs typeface="Liberation Sans"/>
              </a:defRPr>
            </a:pPr>
            <a:r>
              <a:rPr sz="2175" b="1">
                <a:solidFill>
                  <a:srgbClr val="D4E9A8"/>
                </a:solidFill>
                <a:latin typeface="Liberation Sans"/>
                <a:ea typeface="Liberation Sans"/>
                <a:cs typeface="Liberation Sans"/>
              </a:rPr>
              <a:t>Renewal and incremental contribution decide what happens next.</a:t>
            </a:r>
          </a:p>
        </p:txBody>
      </p:sp>
      <p:sp>
        <p:nvSpPr>
          <p:cNvPr id="11" name="Shivam Gupta  /  AI-assisted development  /  Cloud v">
            <a:extLst xmlns:a="http://schemas.openxmlformats.org/drawingml/2006/main">
              <a:ext uri="{FF2B5EF4-FFF2-40B4-BE49-F238E27FC236}">
                <a16:creationId xmlns:a16="http://schemas.microsoft.com/office/drawing/2014/main" id="{677F29AF-1293-45F8-81C5-4461393744E0}"/>
              </a:ext>
            </a:extLst>
          </p:cNvPr>
          <p:cNvSpPr>
            <a:spLocks xmlns:a="http://schemas.openxmlformats.org/drawingml/2006/main" noGrp="1"/>
          </p:cNvSpPr>
          <p:nvPr/>
        </p:nvSpPr>
        <p:spPr>
          <a:xfrm xmlns:a="http://schemas.openxmlformats.org/drawingml/2006/main">
            <a:off x="685800" y="6057900"/>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7F8F5"/>
                </a:solidFill>
                <a:latin typeface="Liberation Sans"/>
                <a:ea typeface="Liberation Sans"/>
                <a:cs typeface="Liberation Sans"/>
              </a:defRPr>
            </a:pPr>
            <a:r>
              <a:rPr sz="1275" b="0">
                <a:solidFill>
                  <a:srgbClr val="F7F8F5"/>
                </a:solidFill>
                <a:latin typeface="Liberation Sans"/>
                <a:ea typeface="Liberation Sans"/>
                <a:cs typeface="Liberation Sans"/>
              </a:rPr>
              <a:t>Shivam Gupta  /  AI-assisted development  /  Cloud validation pending</a:t>
            </a:r>
          </a:p>
        </p:txBody>
      </p:sp>
    </p:spTree>
    <p:extLst>
      <p:ext uri="{BB962C8B-B14F-4D97-AF65-F5344CB8AC3E}">
        <p14:creationId xmlns:p14="http://schemas.microsoft.com/office/powerpoint/2010/main" val="2617832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2026-09-22T07:35:43.6070000Z</dcterms:created>
  <dcterms:modified xsi:type="dcterms:W3CDTF">2026-09-22T07:35:43.6080000Z</dcterms:modified>
</coreProperties>
</file>